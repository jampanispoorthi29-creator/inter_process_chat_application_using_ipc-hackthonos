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AA5B746D-3760-481B-F0D1-BE0399F2DCB2}">
          <p14:sldIdLst>
            <p14:sldId id="256"/>
            <p14:sldId id="257"/>
            <p14:sldId id="258"/>
            <p14:sldId id="259"/>
          </p14:sldIdLst>
        </p14:section>
        <p14:section name="Concepts &amp; Design" id="{9D9608D2-4370-E528-04CD-4937CBF88C2C}">
          <p14:sldIdLst>
            <p14:sldId id="260"/>
            <p14:sldId id="261"/>
            <p14:sldId id="262"/>
          </p14:sldIdLst>
        </p14:section>
        <p14:section name="Implementation" id="{F674958E-78D5-9F04-A24B-521CD19990EC}">
          <p14:sldIdLst>
            <p14:sldId id="263"/>
            <p14:sldId id="264"/>
            <p14:sldId id="265"/>
          </p14:sldIdLst>
        </p14:section>
        <p14:section name="Evaluation" id="{2E3DEE3B-8898-18E6-FA75-696089E1433E}">
          <p14:sldIdLst>
            <p14:sldId id="266"/>
            <p14:sldId id="267"/>
            <p14:sldId id="268"/>
            <p14:sldId id="26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two-way chat between two independent Linux processes using named pipes (FIFOs). Subject: Operating Systems and Systems Programming. Replace the bracketed placeholders with the real team member names, roll numbers, faculty name and college name before the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abstract in one breath: we built a chat between two processes that never share memory; the kernel carries the bytes through two FIFOs. select() lets each process wait on keyboard and FIFO at once, and signal handlers make termination clean. Expected outcome: messages flow both ways and either side can leave with /quit without leaving the other hanging.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for viva: processes are isolated by design (virtual memory), which is good for protection but means a plain variable assignment cannot carry a message from A to B. The operating system must offer explicit IPC mechanisms. We chose named pipes because they are the simplest to explain and test on one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objectives, one per card: (1) true two-way chat, (2) FIFOs as the IPC mechanism, (3) signals and graceful exit, (4) hands-on use of Linux system calls. Each objective is verified in the Testing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Anonymous pipes exist only as a pair of file descriptors, so they can be shared only through inheritance, typically across fork(). A FIFO has a name in the filesystem, so two unrelated processes started from different terminals can open the same path. Both are byte streams with one direction, which is why this project uses two FIFOs.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left to right. Process A and Process B live in user space; each has the terminal, a select() loop, signal handlers and a fixed-size buffer. The kernel owns the two FIFO buffers. A calls write() on FIFO A-to-B and B calls read() on it; the reverse happens on FIFO B-to-A. FIFO names are filesystem paths created with mkfifo(); the data itself stays in kernel memory. System calls are the only boundary crossings between user space and the kernel.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standard Linux: C compiled with GCC, using POSIX calls directly rather than stdio so the system-call interface is visible. Named pipes carry the data, signals handle asynchronous events such as Ctrl+C, and select() lets each process wait on keyboard input and incoming FIFO data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Sequence: mkfifo() creates the two FIFO files; each process open()s one FIFO for writing and the other for reading (the two processes use opposite modes); select() waits on stdin and the incoming FIFO; read() fetches whichever is ready; write() forwards typed text to the outgoing FIFO; close() releases descriptors on exit. Note for viva: opening a FIFO normally blocks until the other end is opened, so the order of open() calls in A and B must be complementary (or O_NONBLOCK used) to avoid deadlock. fcntl() is used to manage descriptor flags such as O_NONBLOCK. Confirm the exact flags used against your source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Snippet 1: mkfifo() creates the FIFO; EEXIST is tolerated so a restart does not fail. Snippet 2: the handler only sets a flag (async-signal-safe); the main loop checks it and shuts down cleanly. Snippet 3: select() sleeps until keyboard or FIFO data is ready, then read() and write() move the bytes. Snippet 4: typing /quit notifies the peer and ends the loop; a read of 0 bytes means the peer closed its end, so we exit gracefully. IMPORTANT: these snippets were written from the project description, not copied from the source file. Replace them with the exact lines from your implementation and remove any function that does not appear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Process A first; it waits until Process B opens the other end of each FIFO. Messages typed in either terminal appear in the other. Typing /quit in A closes its descriptors; B reads end-of-file, reports that the peer disconnected, and exits cleanly. The program names, prompts and wording on this slide are a mock-up: capture real screenshots from your implementation and swap them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in the viva. All six COs show Implemented for the scope listed in the second column. Be precise about that scope in the viva: for CO-2 the two processes run and end independently, but the code does not use fork(), exec() or waitpid(); for CO-4 memory use is limited to fixed-size buffers, with no dynamic allocation or virtual-memory analysis; for CO-6 concurrency is two independent processes plus select() multiplexing, with no pthreads, mutexes or semaphores. Those items are listed in the third column and again as future enhancements.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test cases that demonstrate each objective. Before the review, execute every case, note what actually happened, and fill the Result column (or add screenshots). Do not present a case as passed unless you have run it. Useful checks: 'ls -l' on the FIFO paths, running both processes in separate terminals, pressing Ctrl+C, typing /quit, and sending an empty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Advantages: FIFOs are easy to use because they look like files, add little overhead because data stays in kernel memory, and fit the same-machine scenario. Limitations map directly to the CO gaps: no process management, no dynamic memory, no threads. Future work: add fork()/exec()/waitpid() for process management, study memory with dynamic allocation, add pthreads with mutexes and semaphores, and extend to several clients through a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what was achieved and what was not: the chat works through two FIFOs with select() and signals, which demonstrates IPC, system calls and file descriptors. Process management, memory analysis and thread synchronisation are honest future work. The references are the Linux man pages (section 2, 3 and 7), the POSIX specification and Kerrisk's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3A5F"/>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731520" y="1325880"/>
            <a:ext cx="6675120" cy="2286000"/>
          </a:xfrm>
          <a:prstGeom prst="rect">
            <a:avLst/>
          </a:prstGeom>
          <a:noFill/>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6382512"/>
            <a:ext cx="7315200" cy="274320"/>
          </a:xfrm>
          <a:prstGeom prst="rect">
            <a:avLst/>
          </a:prstGeom>
          <a:noFill/>
        </p:spPr>
        <p:txBody>
          <a:bodyPr wrap="square" lIns="0" tIns="0" rIns="0" bIns="0" rtlCol="0" anchor="ctr"/>
          <a:lstStyle/>
          <a:p>
            <a:pPr marL="0" indent="0">
              <a:buNone/>
            </a:pPr>
            <a:r>
              <a:rPr lang="en-US" sz="1000" dirty="0">
                <a:solidFill>
                  <a:schemeClr val="accent5"/>
                </a:solidFill>
              </a:rPr>
              <a:t>OSSP  |  Inter-Process Chat Application Using IPC</a:t>
            </a:r>
            <a:endParaRPr lang="en-US" sz="1000" dirty="0"/>
          </a:p>
        </p:txBody>
      </p:sp>
      <p:sp>
        <p:nvSpPr>
          <p:cNvPr id="3" name="Text 1"/>
          <p:cNvSpPr/>
          <p:nvPr>
            <p:ph type="title" idx="101" hasCustomPrompt="1"/>
          </p:nvPr>
        </p:nvSpPr>
        <p:spPr>
          <a:xfrm>
            <a:off x="548640" y="320040"/>
            <a:ext cx="11091672" cy="777240"/>
          </a:xfrm>
          <a:prstGeom prst="rect">
            <a:avLst/>
          </a:prstGeom>
          <a:noFill/>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0972800" y="6382512"/>
            <a:ext cx="667512" cy="274320"/>
          </a:xfrm>
          <a:prstGeom prst="rect">
            <a:avLst/>
          </a:prstGeom>
        </p:spPr>
        <p:txBody>
          <a:bodyPr/>
          <a:lstStyle>
            <a:lvl1pPr>
              <a:defRPr sz="1000">
                <a:solidFill>
                  <a:schemeClr val="accent5"/>
                </a:solidFill>
              </a:defRPr>
            </a:lvl1pPr>
          </a:lstStyle>
          <a:p>
            <a:pPr algn="r"/>
            <a:fld id="{F7021451-1387-4CA6-816F-3879F97B5CBC}" type="slidenum">
              <a:rPr lang="en-US" b="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1F3A5F"/>
        </a:solidFill>
        <a:effectLst/>
      </p:bgPr>
    </p:bg>
    <p:spTree>
      <p:nvGrpSpPr>
        <p:cNvPr id="1" name=""/>
        <p:cNvGrpSpPr/>
        <p:nvPr/>
      </p:nvGrpSpPr>
      <p:grpSpPr>
        <a:xfrm>
          <a:off x="0" y="0"/>
          <a:ext cx="0" cy="0"/>
          <a:chOff x="0" y="0"/>
          <a:chExt cx="0" cy="0"/>
        </a:xfrm>
      </p:grpSpPr>
      <p:sp>
        <p:nvSpPr>
          <p:cNvPr id="2" name="Text 0"/>
          <p:cNvSpPr/>
          <p:nvPr/>
        </p:nvSpPr>
        <p:spPr>
          <a:xfrm>
            <a:off x="548640" y="6382512"/>
            <a:ext cx="7315200" cy="274320"/>
          </a:xfrm>
          <a:prstGeom prst="rect">
            <a:avLst/>
          </a:prstGeom>
          <a:noFill/>
        </p:spPr>
        <p:txBody>
          <a:bodyPr wrap="square" lIns="0" tIns="0" rIns="0" bIns="0" rtlCol="0" anchor="ctr"/>
          <a:lstStyle/>
          <a:p>
            <a:pPr marL="0" indent="0">
              <a:buNone/>
            </a:pPr>
            <a:r>
              <a:rPr lang="en-US" sz="1000" dirty="0">
                <a:solidFill>
                  <a:schemeClr val="accent2"/>
                </a:solidFill>
              </a:rPr>
              <a:t>OSSP  |  Inter-Process Chat Application Using IPC</a:t>
            </a:r>
            <a:endParaRPr lang="en-US" sz="1000" dirty="0"/>
          </a:p>
        </p:txBody>
      </p:sp>
      <p:sp>
        <p:nvSpPr>
          <p:cNvPr id="3" name="Text 1"/>
          <p:cNvSpPr/>
          <p:nvPr>
            <p:ph type="title" idx="101" hasCustomPrompt="1"/>
          </p:nvPr>
        </p:nvSpPr>
        <p:spPr>
          <a:xfrm>
            <a:off x="548640" y="320040"/>
            <a:ext cx="11091672" cy="777240"/>
          </a:xfrm>
          <a:prstGeom prst="rect">
            <a:avLst/>
          </a:prstGeom>
          <a:noFill/>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0972800" y="6382512"/>
            <a:ext cx="667512" cy="274320"/>
          </a:xfrm>
          <a:prstGeom prst="rect">
            <a:avLst/>
          </a:prstGeom>
        </p:spPr>
        <p:txBody>
          <a:bodyPr/>
          <a:lstStyle>
            <a:lvl1pPr>
              <a:defRPr sz="1000">
                <a:solidFill>
                  <a:schemeClr val="accent2"/>
                </a:solidFill>
              </a:defRPr>
            </a:lvl1pPr>
          </a:lstStyle>
          <a:p>
            <a:pPr algn="r"/>
            <a:fld id="{F7021451-1387-4CA6-816F-3879F97B5CBC}" type="slidenum">
              <a:rPr lang="en-US" b="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382512"/>
            <a:ext cx="667512" cy="274320"/>
          </a:xfrm>
          <a:prstGeom prst="rect">
            <a:avLst/>
          </a:prstGeom>
        </p:spPr>
        <p:txBody>
          <a:bodyPr/>
          <a:lstStyle>
            <a:lvl1pPr>
              <a:defRPr sz="1000">
                <a:solidFill>
                  <a:schemeClr val="accent5"/>
                </a:solidFill>
              </a:defRPr>
            </a:lvl1pPr>
          </a:lstStyle>
          <a:p>
            <a:pPr algn="r"/>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3.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3.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image" Target="../media/image13.png"/><Relationship Id="rId7" Type="http://schemas.openxmlformats.org/officeDocument/2006/relationships/image" Target="../media/image12.png"/><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9.png"/><Relationship Id="rId3" Type="http://schemas.openxmlformats.org/officeDocument/2006/relationships/image" Target="../media/image4.png"/><Relationship Id="rId2" Type="http://schemas.openxmlformats.org/officeDocument/2006/relationships/image" Target="../media/image11.png"/><Relationship Id="rId10" Type="http://schemas.openxmlformats.org/officeDocument/2006/relationships/notesSlide" Target="../notesSlides/notesSlide7.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3.xml"/><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731520" y="777240"/>
            <a:ext cx="6400800" cy="365760"/>
          </a:xfrm>
          <a:prstGeom prst="rect">
            <a:avLst/>
          </a:prstGeom>
          <a:noFill/>
        </p:spPr>
        <p:txBody>
          <a:bodyPr wrap="square" lIns="0" tIns="0" rIns="0" bIns="0" rtlCol="0" anchor="t"/>
          <a:lstStyle/>
          <a:p>
            <a:pPr marL="0" indent="0">
              <a:buNone/>
            </a:pPr>
            <a:r>
              <a:rPr lang="en-US" sz="1400" b="1" kern="0" spc="400" dirty="0">
                <a:solidFill>
                  <a:schemeClr val="accent2"/>
                </a:solidFill>
              </a:rPr>
              <a:t>OSSP PROJECT REVIEW</a:t>
            </a:r>
            <a:endParaRPr lang="en-US" sz="1400" dirty="0"/>
          </a:p>
        </p:txBody>
      </p:sp>
      <p:sp>
        <p:nvSpPr>
          <p:cNvPr id="3" name="Text 0"/>
          <p:cNvSpPr/>
          <p:nvPr>
            <p:ph type="title" idx="100" hasCustomPrompt="1"/>
          </p:nvPr>
        </p:nvSpPr>
        <p:spPr>
          <a:xfrm>
            <a:off x="731520" y="1325880"/>
            <a:ext cx="6675120" cy="2286000"/>
          </a:xfrm>
          <a:prstGeom prst="rect">
            <a:avLst/>
          </a:prstGeom>
          <a:noFill/>
        </p:spPr>
        <p:txBody>
          <a:bodyPr wrap="square" lIns="0" tIns="0" rIns="0" bIns="0" rtlCol="0" anchor="t"/>
          <a:lstStyle/>
          <a:p>
            <a:pPr marL="0" indent="0" algn="l">
              <a:buNone/>
            </a:pPr>
            <a:r>
              <a:rPr lang="en-US" sz="4400" b="1" dirty="0">
                <a:solidFill>
                  <a:schemeClr val="bg1"/>
                </a:solidFill>
              </a:rPr>
              <a:t>Inter-Process Chat Application Using IPC</a:t>
            </a:r>
            <a:endParaRPr lang="en-US" sz="4400" dirty="0"/>
          </a:p>
        </p:txBody>
      </p:sp>
      <p:sp>
        <p:nvSpPr>
          <p:cNvPr id="4" name="Text 2"/>
          <p:cNvSpPr txBox="1"/>
          <p:nvPr/>
        </p:nvSpPr>
        <p:spPr>
          <a:xfrm>
            <a:off x="731520" y="3840480"/>
            <a:ext cx="6675120" cy="411480"/>
          </a:xfrm>
          <a:prstGeom prst="rect">
            <a:avLst/>
          </a:prstGeom>
          <a:noFill/>
        </p:spPr>
        <p:txBody>
          <a:bodyPr wrap="square" lIns="0" tIns="0" rIns="0" bIns="0" rtlCol="0" anchor="t"/>
          <a:lstStyle/>
          <a:p>
            <a:pPr marL="0" indent="0">
              <a:buNone/>
            </a:pPr>
            <a:r>
              <a:rPr lang="en-US" sz="2000" dirty="0">
                <a:solidFill>
                  <a:schemeClr val="bg2"/>
                </a:solidFill>
              </a:rPr>
              <a:t>Operating Systems and Systems Programming (OSSP)</a:t>
            </a:r>
            <a:endParaRPr lang="en-US" sz="2000" dirty="0"/>
          </a:p>
        </p:txBody>
      </p:sp>
      <p:sp>
        <p:nvSpPr>
          <p:cNvPr id="5" name="Text 3"/>
          <p:cNvSpPr txBox="1"/>
          <p:nvPr/>
        </p:nvSpPr>
        <p:spPr>
          <a:xfrm>
            <a:off x="731520" y="4389120"/>
            <a:ext cx="6675120" cy="365760"/>
          </a:xfrm>
          <a:prstGeom prst="rect">
            <a:avLst/>
          </a:prstGeom>
          <a:noFill/>
        </p:spPr>
        <p:txBody>
          <a:bodyPr wrap="square" lIns="0" tIns="0" rIns="0" bIns="0" rtlCol="0" anchor="t"/>
          <a:lstStyle/>
          <a:p>
            <a:pPr marL="0" indent="0">
              <a:buNone/>
            </a:pPr>
            <a:r>
              <a:rPr lang="en-US" sz="1600" dirty="0">
                <a:solidFill>
                  <a:schemeClr val="accent2"/>
                </a:solidFill>
              </a:rPr>
              <a:t>C on Linux  •  POSIX system calls  •  Named Pipes (FIFOs)</a:t>
            </a:r>
            <a:endParaRPr lang="en-US" sz="1600" dirty="0"/>
          </a:p>
        </p:txBody>
      </p:sp>
      <p:pic>
        <p:nvPicPr>
          <p:cNvPr id="6" name="Image 0" descr="Terminal icon (Process A)"/>
          <p:cNvPicPr>
            <a:picLocks noChangeAspect="1"/>
          </p:cNvPicPr>
          <p:nvPr/>
        </p:nvPicPr>
        <p:blipFill>
          <a:blip r:embed="rId1"/>
          <a:stretch>
            <a:fillRect/>
          </a:stretch>
        </p:blipFill>
        <p:spPr>
          <a:xfrm>
            <a:off x="731520" y="5166360"/>
            <a:ext cx="502920" cy="502920"/>
          </a:xfrm>
          <a:prstGeom prst="rect">
            <a:avLst/>
          </a:prstGeom>
        </p:spPr>
      </p:pic>
      <p:pic>
        <p:nvPicPr>
          <p:cNvPr id="7" name="Image 1" descr="Two-way arrows icon"/>
          <p:cNvPicPr>
            <a:picLocks noChangeAspect="1"/>
          </p:cNvPicPr>
          <p:nvPr/>
        </p:nvPicPr>
        <p:blipFill>
          <a:blip r:embed="rId2"/>
          <a:stretch>
            <a:fillRect/>
          </a:stretch>
        </p:blipFill>
        <p:spPr>
          <a:xfrm>
            <a:off x="1508760" y="5212080"/>
            <a:ext cx="594360" cy="411480"/>
          </a:xfrm>
          <a:prstGeom prst="rect">
            <a:avLst/>
          </a:prstGeom>
        </p:spPr>
      </p:pic>
      <p:pic>
        <p:nvPicPr>
          <p:cNvPr id="8" name="Image 2" descr="Terminal icon (Process B)"/>
          <p:cNvPicPr>
            <a:picLocks noChangeAspect="1"/>
          </p:cNvPicPr>
          <p:nvPr/>
        </p:nvPicPr>
        <p:blipFill>
          <a:blip r:embed="rId1"/>
          <a:stretch>
            <a:fillRect/>
          </a:stretch>
        </p:blipFill>
        <p:spPr>
          <a:xfrm>
            <a:off x="2377440" y="5166360"/>
            <a:ext cx="502920" cy="502920"/>
          </a:xfrm>
          <a:prstGeom prst="rect">
            <a:avLst/>
          </a:prstGeom>
        </p:spPr>
      </p:pic>
      <p:sp>
        <p:nvSpPr>
          <p:cNvPr id="9" name="Text 4"/>
          <p:cNvSpPr txBox="1"/>
          <p:nvPr/>
        </p:nvSpPr>
        <p:spPr>
          <a:xfrm>
            <a:off x="3108960" y="5212080"/>
            <a:ext cx="3657600" cy="411480"/>
          </a:xfrm>
          <a:prstGeom prst="rect">
            <a:avLst/>
          </a:prstGeom>
          <a:noFill/>
        </p:spPr>
        <p:txBody>
          <a:bodyPr wrap="square" lIns="0" tIns="0" rIns="0" bIns="0" rtlCol="0" anchor="ctr"/>
          <a:lstStyle/>
          <a:p>
            <a:pPr marL="0" indent="0">
              <a:buNone/>
            </a:pPr>
            <a:r>
              <a:rPr lang="en-US" sz="1600" dirty="0">
                <a:solidFill>
                  <a:schemeClr val="bg2"/>
                </a:solidFill>
              </a:rPr>
              <a:t>Process A  ⇄  Process B</a:t>
            </a:r>
            <a:endParaRPr lang="en-US" sz="1600" dirty="0"/>
          </a:p>
        </p:txBody>
      </p:sp>
      <p:sp>
        <p:nvSpPr>
          <p:cNvPr id="10" name="Team details card"/>
          <p:cNvSpPr/>
          <p:nvPr/>
        </p:nvSpPr>
        <p:spPr>
          <a:xfrm>
            <a:off x="7635240" y="914400"/>
            <a:ext cx="3977640" cy="4937760"/>
          </a:xfrm>
          <a:prstGeom prst="roundRect">
            <a:avLst>
              <a:gd name="adj" fmla="val 2299"/>
            </a:avLst>
          </a:prstGeom>
          <a:solidFill>
            <a:schemeClr val="accent3"/>
          </a:solidFill>
        </p:spPr>
      </p:sp>
      <p:sp>
        <p:nvSpPr>
          <p:cNvPr id="11" name="Text 6"/>
          <p:cNvSpPr txBox="1"/>
          <p:nvPr/>
        </p:nvSpPr>
        <p:spPr>
          <a:xfrm>
            <a:off x="7869555" y="1650365"/>
            <a:ext cx="3383280" cy="365760"/>
          </a:xfrm>
          <a:prstGeom prst="rect">
            <a:avLst/>
          </a:prstGeom>
          <a:noFill/>
        </p:spPr>
        <p:txBody>
          <a:bodyPr wrap="square" lIns="0" tIns="0" rIns="0" bIns="0" rtlCol="0" anchor="t"/>
          <a:lstStyle/>
          <a:p>
            <a:pPr marL="0" indent="0">
              <a:buNone/>
            </a:pPr>
            <a:r>
              <a:rPr lang="en-US" sz="1800" b="1" dirty="0">
                <a:solidFill>
                  <a:schemeClr val="bg1"/>
                </a:solidFill>
              </a:rPr>
              <a:t>Team Members</a:t>
            </a:r>
            <a:endParaRPr lang="en-US" sz="1800" dirty="0"/>
          </a:p>
        </p:txBody>
      </p:sp>
      <p:sp>
        <p:nvSpPr>
          <p:cNvPr id="12" name="Text 7"/>
          <p:cNvSpPr txBox="1"/>
          <p:nvPr/>
        </p:nvSpPr>
        <p:spPr>
          <a:xfrm>
            <a:off x="7869555" y="2285365"/>
            <a:ext cx="3383280" cy="1906905"/>
          </a:xfrm>
          <a:prstGeom prst="rect">
            <a:avLst/>
          </a:prstGeom>
          <a:noFill/>
        </p:spPr>
        <p:txBody>
          <a:bodyPr wrap="square" lIns="0" tIns="0" rIns="0" bIns="0" rtlCol="0" anchor="t"/>
          <a:lstStyle/>
          <a:p>
            <a:pPr marL="0" indent="0">
              <a:buNone/>
            </a:pPr>
            <a:r>
              <a:rPr lang="en-US" sz="1400" b="1" dirty="0">
                <a:solidFill>
                  <a:schemeClr val="bg1"/>
                </a:solidFill>
              </a:rPr>
              <a:t>Member 1 : N.Sai Pranavi</a:t>
            </a:r>
            <a:endParaRPr lang="en-US" sz="1400" dirty="0"/>
          </a:p>
          <a:p>
            <a:pPr marL="0" indent="0">
              <a:spcAft>
                <a:spcPts val="1000"/>
              </a:spcAft>
              <a:buNone/>
            </a:pPr>
            <a:r>
              <a:rPr lang="en-US" sz="1400" dirty="0">
                <a:solidFill>
                  <a:schemeClr val="accent2"/>
                </a:solidFill>
              </a:rPr>
              <a:t>Roll No.: [2520030514]</a:t>
            </a:r>
            <a:endParaRPr lang="en-US" sz="1400" dirty="0"/>
          </a:p>
          <a:p>
            <a:pPr marL="0" indent="0">
              <a:buNone/>
            </a:pPr>
            <a:r>
              <a:rPr lang="en-US" sz="1400" b="1" dirty="0">
                <a:solidFill>
                  <a:schemeClr val="bg1"/>
                </a:solidFill>
              </a:rPr>
              <a:t>Member 2 : J.Sai Spoorthi</a:t>
            </a:r>
            <a:endParaRPr lang="en-US" sz="1400" dirty="0"/>
          </a:p>
          <a:p>
            <a:pPr marL="0" indent="0">
              <a:spcAft>
                <a:spcPts val="1000"/>
              </a:spcAft>
              <a:buNone/>
            </a:pPr>
            <a:r>
              <a:rPr lang="en-US" sz="1400" dirty="0">
                <a:solidFill>
                  <a:schemeClr val="accent2"/>
                </a:solidFill>
              </a:rPr>
              <a:t>Roll No.: [2520030587]</a:t>
            </a:r>
            <a:endParaRPr lang="en-US" sz="1400" dirty="0"/>
          </a:p>
          <a:p>
            <a:pPr marL="0" indent="0">
              <a:buNone/>
            </a:pPr>
            <a:r>
              <a:rPr lang="en-US" sz="1400" b="1" dirty="0">
                <a:solidFill>
                  <a:schemeClr val="bg1"/>
                </a:solidFill>
              </a:rPr>
              <a:t>Member 3 :  T.Sudeshna</a:t>
            </a:r>
            <a:endParaRPr lang="en-US" sz="1400" dirty="0"/>
          </a:p>
          <a:p>
            <a:pPr marL="0" indent="0">
              <a:spcAft>
                <a:spcPts val="1000"/>
              </a:spcAft>
              <a:buNone/>
            </a:pPr>
            <a:r>
              <a:rPr lang="en-US" sz="1400" dirty="0">
                <a:solidFill>
                  <a:schemeClr val="accent2"/>
                </a:solidFill>
              </a:rPr>
              <a:t>Roll No.: [2520030591]</a:t>
            </a:r>
            <a:endParaRPr lang="en-US" sz="1400" dirty="0"/>
          </a:p>
        </p:txBody>
      </p:sp>
      <p:sp>
        <p:nvSpPr>
          <p:cNvPr id="13" name="Text 8"/>
          <p:cNvSpPr txBox="1"/>
          <p:nvPr/>
        </p:nvSpPr>
        <p:spPr>
          <a:xfrm>
            <a:off x="7929245" y="4251325"/>
            <a:ext cx="3409315" cy="1463675"/>
          </a:xfrm>
          <a:prstGeom prst="rect">
            <a:avLst/>
          </a:prstGeom>
          <a:noFill/>
        </p:spPr>
        <p:txBody>
          <a:bodyPr wrap="square" lIns="0" tIns="0" rIns="0" bIns="0" rtlCol="0" anchor="t"/>
          <a:lstStyle/>
          <a:p>
            <a:pPr marL="0" indent="0">
              <a:buNone/>
            </a:pPr>
            <a:r>
              <a:rPr lang="en-US" sz="1400" b="1" dirty="0">
                <a:solidFill>
                  <a:schemeClr val="accent2"/>
                </a:solidFill>
              </a:rPr>
              <a:t>Faculty</a:t>
            </a:r>
            <a:endParaRPr lang="en-US" sz="1400" dirty="0"/>
          </a:p>
          <a:p>
            <a:pPr marL="0" indent="0">
              <a:spcAft>
                <a:spcPts val="800"/>
              </a:spcAft>
              <a:buNone/>
            </a:pPr>
            <a:r>
              <a:rPr lang="en-US" sz="1400" dirty="0">
                <a:solidFill>
                  <a:schemeClr val="bg1"/>
                </a:solidFill>
              </a:rPr>
              <a:t>[Dr.Anusha]</a:t>
            </a:r>
            <a:endParaRPr lang="en-US" sz="1400" dirty="0"/>
          </a:p>
          <a:p>
            <a:pPr marL="0" indent="0">
              <a:buNone/>
            </a:pPr>
            <a:r>
              <a:rPr lang="en-US" sz="1400" b="1" dirty="0">
                <a:solidFill>
                  <a:schemeClr val="accent2"/>
                </a:solidFill>
              </a:rPr>
              <a:t>College</a:t>
            </a:r>
            <a:endParaRPr lang="en-US" sz="1400" dirty="0"/>
          </a:p>
          <a:p>
            <a:pPr marL="0" indent="0">
              <a:buNone/>
            </a:pPr>
            <a:r>
              <a:rPr lang="en-US" sz="1400" dirty="0">
                <a:solidFill>
                  <a:schemeClr val="bg1"/>
                </a:solidFill>
              </a:rPr>
              <a:t>[KLH UNIVESITY]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548640" y="320040"/>
            <a:ext cx="11091672" cy="777240"/>
          </a:xfrm>
          <a:prstGeom prst="rect">
            <a:avLst/>
          </a:prstGeom>
          <a:noFill/>
        </p:spPr>
        <p:txBody>
          <a:bodyPr wrap="square" lIns="0" tIns="0" rIns="0" bIns="0" rtlCol="0" anchor="ctr"/>
          <a:lstStyle/>
          <a:p>
            <a:pPr marL="0" indent="0" algn="l">
              <a:buNone/>
            </a:pPr>
            <a:r>
              <a:rPr lang="en-US" sz="3200" b="1" dirty="0">
                <a:solidFill>
                  <a:schemeClr val="tx2"/>
                </a:solidFill>
              </a:rPr>
              <a:t>Abstract</a:t>
            </a:r>
            <a:endParaRPr lang="en-US" sz="3200" dirty="0"/>
          </a:p>
        </p:txBody>
      </p:sp>
      <p:sp>
        <p:nvSpPr>
          <p:cNvPr id="3" name="Text 1"/>
          <p:cNvSpPr txBox="1"/>
          <p:nvPr/>
        </p:nvSpPr>
        <p:spPr>
          <a:xfrm>
            <a:off x="548640" y="1371600"/>
            <a:ext cx="5760720" cy="3291840"/>
          </a:xfrm>
          <a:prstGeom prst="rect">
            <a:avLst/>
          </a:prstGeom>
          <a:noFill/>
        </p:spPr>
        <p:txBody>
          <a:bodyPr wrap="square" lIns="0" tIns="0" rIns="0" bIns="0" rtlCol="0" anchor="t"/>
          <a:lstStyle/>
          <a:p>
            <a:pPr marL="0" indent="0">
              <a:spcAft>
                <a:spcPts val="600"/>
              </a:spcAft>
              <a:buNone/>
            </a:pPr>
            <a:r>
              <a:rPr lang="en-US" sz="1600" dirty="0">
                <a:solidFill>
                  <a:schemeClr val="tx1"/>
                </a:solidFill>
              </a:rPr>
              <a:t>This project implements a two-way chat application in C on Linux. Two independent processes, Process A and Process B, exchange text messages through two named pipes (FIFOs).</a:t>
            </a:r>
            <a:endParaRPr lang="en-US" sz="1600" dirty="0"/>
          </a:p>
          <a:p>
            <a:pPr marL="0" indent="0">
              <a:spcAft>
                <a:spcPts val="600"/>
              </a:spcAft>
              <a:buNone/>
            </a:pPr>
            <a:endParaRPr lang="en-US" sz="1600" dirty="0"/>
          </a:p>
          <a:p>
            <a:pPr marL="0" indent="0">
              <a:spcAft>
                <a:spcPts val="600"/>
              </a:spcAft>
              <a:buNone/>
            </a:pPr>
            <a:r>
              <a:rPr lang="en-US" sz="1600" dirty="0">
                <a:solidFill>
                  <a:schemeClr val="tx1"/>
                </a:solidFill>
              </a:rPr>
              <a:t>Using POSIX system calls, select() for simultaneous input monitoring and signal handlers for asynchronous events, it demonstrates core operating-system ideas: inter-process communication, file descriptors and graceful process termination.</a:t>
            </a:r>
            <a:endParaRPr lang="en-US" sz="1600" dirty="0"/>
          </a:p>
        </p:txBody>
      </p:sp>
      <p:sp>
        <p:nvSpPr>
          <p:cNvPr id="4" name="Keyword chip IPC"/>
          <p:cNvSpPr/>
          <p:nvPr/>
        </p:nvSpPr>
        <p:spPr>
          <a:xfrm>
            <a:off x="548640" y="4983480"/>
            <a:ext cx="1325880" cy="457200"/>
          </a:xfrm>
          <a:prstGeom prst="roundRect">
            <a:avLst>
              <a:gd name="adj" fmla="val 20000"/>
            </a:avLst>
          </a:prstGeom>
          <a:solidFill>
            <a:schemeClr val="accent1"/>
          </a:solidFill>
        </p:spPr>
      </p:sp>
      <p:sp>
        <p:nvSpPr>
          <p:cNvPr id="5" name="Text 3"/>
          <p:cNvSpPr txBox="1"/>
          <p:nvPr/>
        </p:nvSpPr>
        <p:spPr>
          <a:xfrm>
            <a:off x="548640" y="4983480"/>
            <a:ext cx="1325880" cy="457200"/>
          </a:xfrm>
          <a:prstGeom prst="rect">
            <a:avLst/>
          </a:prstGeom>
          <a:noFill/>
        </p:spPr>
        <p:txBody>
          <a:bodyPr wrap="square" lIns="0" tIns="0" rIns="0" bIns="0" rtlCol="0" anchor="ctr"/>
          <a:lstStyle/>
          <a:p>
            <a:pPr marL="0" indent="0" algn="ctr">
              <a:buNone/>
            </a:pPr>
            <a:r>
              <a:rPr lang="en-US" sz="1400" b="1" dirty="0">
                <a:solidFill>
                  <a:schemeClr val="bg1"/>
                </a:solidFill>
              </a:rPr>
              <a:t>IPC</a:t>
            </a:r>
            <a:endParaRPr lang="en-US" sz="1400" dirty="0"/>
          </a:p>
        </p:txBody>
      </p:sp>
      <p:sp>
        <p:nvSpPr>
          <p:cNvPr id="6" name="Keyword chip FIFO"/>
          <p:cNvSpPr/>
          <p:nvPr/>
        </p:nvSpPr>
        <p:spPr>
          <a:xfrm>
            <a:off x="2011680" y="4983480"/>
            <a:ext cx="1325880" cy="457200"/>
          </a:xfrm>
          <a:prstGeom prst="roundRect">
            <a:avLst>
              <a:gd name="adj" fmla="val 20000"/>
            </a:avLst>
          </a:prstGeom>
          <a:solidFill>
            <a:schemeClr val="accent1"/>
          </a:solidFill>
        </p:spPr>
      </p:sp>
      <p:sp>
        <p:nvSpPr>
          <p:cNvPr id="7" name="Text 5"/>
          <p:cNvSpPr txBox="1"/>
          <p:nvPr/>
        </p:nvSpPr>
        <p:spPr>
          <a:xfrm>
            <a:off x="2011680" y="4983480"/>
            <a:ext cx="1325880" cy="457200"/>
          </a:xfrm>
          <a:prstGeom prst="rect">
            <a:avLst/>
          </a:prstGeom>
          <a:noFill/>
        </p:spPr>
        <p:txBody>
          <a:bodyPr wrap="square" lIns="0" tIns="0" rIns="0" bIns="0" rtlCol="0" anchor="ctr"/>
          <a:lstStyle/>
          <a:p>
            <a:pPr marL="0" indent="0" algn="ctr">
              <a:buNone/>
            </a:pPr>
            <a:r>
              <a:rPr lang="en-US" sz="1400" b="1" dirty="0">
                <a:solidFill>
                  <a:schemeClr val="bg1"/>
                </a:solidFill>
              </a:rPr>
              <a:t>FIFO</a:t>
            </a:r>
            <a:endParaRPr lang="en-US" sz="1400" dirty="0"/>
          </a:p>
        </p:txBody>
      </p:sp>
      <p:sp>
        <p:nvSpPr>
          <p:cNvPr id="8" name="Keyword chip select()"/>
          <p:cNvSpPr/>
          <p:nvPr/>
        </p:nvSpPr>
        <p:spPr>
          <a:xfrm>
            <a:off x="3474720" y="4983480"/>
            <a:ext cx="1325880" cy="457200"/>
          </a:xfrm>
          <a:prstGeom prst="roundRect">
            <a:avLst>
              <a:gd name="adj" fmla="val 20000"/>
            </a:avLst>
          </a:prstGeom>
          <a:solidFill>
            <a:schemeClr val="accent1"/>
          </a:solidFill>
        </p:spPr>
      </p:sp>
      <p:sp>
        <p:nvSpPr>
          <p:cNvPr id="9" name="Text 7"/>
          <p:cNvSpPr txBox="1"/>
          <p:nvPr/>
        </p:nvSpPr>
        <p:spPr>
          <a:xfrm>
            <a:off x="3474720" y="4983480"/>
            <a:ext cx="1325880" cy="457200"/>
          </a:xfrm>
          <a:prstGeom prst="rect">
            <a:avLst/>
          </a:prstGeom>
          <a:noFill/>
        </p:spPr>
        <p:txBody>
          <a:bodyPr wrap="square" lIns="0" tIns="0" rIns="0" bIns="0" rtlCol="0" anchor="ctr"/>
          <a:lstStyle/>
          <a:p>
            <a:pPr marL="0" indent="0" algn="ctr">
              <a:buNone/>
            </a:pPr>
            <a:r>
              <a:rPr lang="en-US" sz="1400" b="1" dirty="0">
                <a:solidFill>
                  <a:schemeClr val="bg1"/>
                </a:solidFill>
              </a:rPr>
              <a:t>select()</a:t>
            </a:r>
            <a:endParaRPr lang="en-US" sz="1400" dirty="0"/>
          </a:p>
        </p:txBody>
      </p:sp>
      <p:sp>
        <p:nvSpPr>
          <p:cNvPr id="10" name="Keyword chip Signals"/>
          <p:cNvSpPr/>
          <p:nvPr/>
        </p:nvSpPr>
        <p:spPr>
          <a:xfrm>
            <a:off x="4937760" y="4983480"/>
            <a:ext cx="1325880" cy="457200"/>
          </a:xfrm>
          <a:prstGeom prst="roundRect">
            <a:avLst>
              <a:gd name="adj" fmla="val 20000"/>
            </a:avLst>
          </a:prstGeom>
          <a:solidFill>
            <a:schemeClr val="accent1"/>
          </a:solidFill>
        </p:spPr>
      </p:sp>
      <p:sp>
        <p:nvSpPr>
          <p:cNvPr id="11" name="Text 9"/>
          <p:cNvSpPr txBox="1"/>
          <p:nvPr/>
        </p:nvSpPr>
        <p:spPr>
          <a:xfrm>
            <a:off x="4937760" y="4983480"/>
            <a:ext cx="1325880" cy="457200"/>
          </a:xfrm>
          <a:prstGeom prst="rect">
            <a:avLst/>
          </a:prstGeom>
          <a:noFill/>
        </p:spPr>
        <p:txBody>
          <a:bodyPr wrap="square" lIns="0" tIns="0" rIns="0" bIns="0" rtlCol="0" anchor="ctr"/>
          <a:lstStyle/>
          <a:p>
            <a:pPr marL="0" indent="0" algn="ctr">
              <a:buNone/>
            </a:pPr>
            <a:r>
              <a:rPr lang="en-US" sz="1400" b="1" dirty="0">
                <a:solidFill>
                  <a:schemeClr val="bg1"/>
                </a:solidFill>
              </a:rPr>
              <a:t>Signals</a:t>
            </a:r>
            <a:endParaRPr lang="en-US" sz="1400" dirty="0"/>
          </a:p>
        </p:txBody>
      </p:sp>
      <p:sp>
        <p:nvSpPr>
          <p:cNvPr id="12" name="Abstract card Purpose"/>
          <p:cNvSpPr/>
          <p:nvPr/>
        </p:nvSpPr>
        <p:spPr>
          <a:xfrm>
            <a:off x="6675120" y="1371600"/>
            <a:ext cx="4965192" cy="1371600"/>
          </a:xfrm>
          <a:prstGeom prst="roundRect">
            <a:avLst>
              <a:gd name="adj" fmla="val 6667"/>
            </a:avLst>
          </a:prstGeom>
          <a:solidFill>
            <a:schemeClr val="bg2"/>
          </a:solidFill>
        </p:spPr>
      </p:sp>
      <p:sp>
        <p:nvSpPr>
          <p:cNvPr id="13" name="Icon circle FaBullseye"/>
          <p:cNvSpPr/>
          <p:nvPr/>
        </p:nvSpPr>
        <p:spPr>
          <a:xfrm>
            <a:off x="6903720" y="1737360"/>
            <a:ext cx="640080" cy="640080"/>
          </a:xfrm>
          <a:prstGeom prst="ellipse">
            <a:avLst/>
          </a:prstGeom>
          <a:solidFill>
            <a:schemeClr val="accent1"/>
          </a:solidFill>
        </p:spPr>
      </p:sp>
      <p:pic>
        <p:nvPicPr>
          <p:cNvPr id="14" name="Image 0" descr="Bullseye icon"/>
          <p:cNvPicPr>
            <a:picLocks noChangeAspect="1"/>
          </p:cNvPicPr>
          <p:nvPr/>
        </p:nvPicPr>
        <p:blipFill>
          <a:blip r:embed="rId1"/>
          <a:stretch>
            <a:fillRect/>
          </a:stretch>
        </p:blipFill>
        <p:spPr>
          <a:xfrm>
            <a:off x="7063740" y="1897380"/>
            <a:ext cx="320040" cy="320040"/>
          </a:xfrm>
          <a:prstGeom prst="rect">
            <a:avLst/>
          </a:prstGeom>
        </p:spPr>
      </p:pic>
      <p:sp>
        <p:nvSpPr>
          <p:cNvPr id="15" name="Text 12"/>
          <p:cNvSpPr txBox="1"/>
          <p:nvPr/>
        </p:nvSpPr>
        <p:spPr>
          <a:xfrm>
            <a:off x="7772400" y="1554480"/>
            <a:ext cx="3657600" cy="365760"/>
          </a:xfrm>
          <a:prstGeom prst="rect">
            <a:avLst/>
          </a:prstGeom>
          <a:noFill/>
        </p:spPr>
        <p:txBody>
          <a:bodyPr wrap="square" lIns="0" tIns="0" rIns="0" bIns="0" rtlCol="0" anchor="t"/>
          <a:lstStyle/>
          <a:p>
            <a:pPr marL="0" indent="0">
              <a:buNone/>
            </a:pPr>
            <a:r>
              <a:rPr lang="en-US" sz="1800" b="1" dirty="0">
                <a:solidFill>
                  <a:schemeClr val="tx2"/>
                </a:solidFill>
              </a:rPr>
              <a:t>Purpose</a:t>
            </a:r>
            <a:endParaRPr lang="en-US" sz="1800" dirty="0"/>
          </a:p>
        </p:txBody>
      </p:sp>
      <p:sp>
        <p:nvSpPr>
          <p:cNvPr id="16" name="Text 13"/>
          <p:cNvSpPr txBox="1"/>
          <p:nvPr/>
        </p:nvSpPr>
        <p:spPr>
          <a:xfrm>
            <a:off x="7772400" y="1965960"/>
            <a:ext cx="3703320" cy="685800"/>
          </a:xfrm>
          <a:prstGeom prst="rect">
            <a:avLst/>
          </a:prstGeom>
          <a:noFill/>
        </p:spPr>
        <p:txBody>
          <a:bodyPr wrap="square" lIns="0" tIns="0" rIns="0" bIns="0" rtlCol="0" anchor="t"/>
          <a:lstStyle/>
          <a:p>
            <a:pPr marL="0" indent="0">
              <a:buNone/>
            </a:pPr>
            <a:r>
              <a:rPr lang="en-US" sz="1400" dirty="0">
                <a:solidFill>
                  <a:schemeClr val="tx1"/>
                </a:solidFill>
              </a:rPr>
              <a:t>Show how independent processes exchange data through OS-provided IPC.</a:t>
            </a:r>
            <a:endParaRPr lang="en-US" sz="1400" dirty="0"/>
          </a:p>
        </p:txBody>
      </p:sp>
      <p:sp>
        <p:nvSpPr>
          <p:cNvPr id="17" name="Abstract card Approach"/>
          <p:cNvSpPr/>
          <p:nvPr/>
        </p:nvSpPr>
        <p:spPr>
          <a:xfrm>
            <a:off x="6675120" y="2926080"/>
            <a:ext cx="4965192" cy="1371600"/>
          </a:xfrm>
          <a:prstGeom prst="roundRect">
            <a:avLst>
              <a:gd name="adj" fmla="val 6667"/>
            </a:avLst>
          </a:prstGeom>
          <a:solidFill>
            <a:schemeClr val="bg2"/>
          </a:solidFill>
        </p:spPr>
      </p:sp>
      <p:sp>
        <p:nvSpPr>
          <p:cNvPr id="18" name="Icon circle FaCogs"/>
          <p:cNvSpPr/>
          <p:nvPr/>
        </p:nvSpPr>
        <p:spPr>
          <a:xfrm>
            <a:off x="6903720" y="3291840"/>
            <a:ext cx="640080" cy="640080"/>
          </a:xfrm>
          <a:prstGeom prst="ellipse">
            <a:avLst/>
          </a:prstGeom>
          <a:solidFill>
            <a:schemeClr val="accent1"/>
          </a:solidFill>
        </p:spPr>
      </p:sp>
      <p:pic>
        <p:nvPicPr>
          <p:cNvPr id="19" name="Image 1" descr="Cogs icon"/>
          <p:cNvPicPr>
            <a:picLocks noChangeAspect="1"/>
          </p:cNvPicPr>
          <p:nvPr/>
        </p:nvPicPr>
        <p:blipFill>
          <a:blip r:embed="rId2"/>
          <a:stretch>
            <a:fillRect/>
          </a:stretch>
        </p:blipFill>
        <p:spPr>
          <a:xfrm>
            <a:off x="7063740" y="3451860"/>
            <a:ext cx="320040" cy="320040"/>
          </a:xfrm>
          <a:prstGeom prst="rect">
            <a:avLst/>
          </a:prstGeom>
        </p:spPr>
      </p:pic>
      <p:sp>
        <p:nvSpPr>
          <p:cNvPr id="20" name="Text 16"/>
          <p:cNvSpPr txBox="1"/>
          <p:nvPr/>
        </p:nvSpPr>
        <p:spPr>
          <a:xfrm>
            <a:off x="7772400" y="3108960"/>
            <a:ext cx="3657600" cy="365760"/>
          </a:xfrm>
          <a:prstGeom prst="rect">
            <a:avLst/>
          </a:prstGeom>
          <a:noFill/>
        </p:spPr>
        <p:txBody>
          <a:bodyPr wrap="square" lIns="0" tIns="0" rIns="0" bIns="0" rtlCol="0" anchor="t"/>
          <a:lstStyle/>
          <a:p>
            <a:pPr marL="0" indent="0">
              <a:buNone/>
            </a:pPr>
            <a:r>
              <a:rPr lang="en-US" sz="1800" b="1" dirty="0">
                <a:solidFill>
                  <a:schemeClr val="tx2"/>
                </a:solidFill>
              </a:rPr>
              <a:t>Approach</a:t>
            </a:r>
            <a:endParaRPr lang="en-US" sz="1800" dirty="0"/>
          </a:p>
        </p:txBody>
      </p:sp>
      <p:sp>
        <p:nvSpPr>
          <p:cNvPr id="21" name="Text 17"/>
          <p:cNvSpPr txBox="1"/>
          <p:nvPr/>
        </p:nvSpPr>
        <p:spPr>
          <a:xfrm>
            <a:off x="7772400" y="3520440"/>
            <a:ext cx="3703320" cy="685800"/>
          </a:xfrm>
          <a:prstGeom prst="rect">
            <a:avLst/>
          </a:prstGeom>
          <a:noFill/>
        </p:spPr>
        <p:txBody>
          <a:bodyPr wrap="square" lIns="0" tIns="0" rIns="0" bIns="0" rtlCol="0" anchor="t"/>
          <a:lstStyle/>
          <a:p>
            <a:pPr marL="0" indent="0">
              <a:buNone/>
            </a:pPr>
            <a:r>
              <a:rPr lang="en-US" sz="1400" dirty="0">
                <a:solidFill>
                  <a:schemeClr val="tx1"/>
                </a:solidFill>
              </a:rPr>
              <a:t>Two FIFOs, select() for simultaneous I/O, signal handlers for events.</a:t>
            </a:r>
            <a:endParaRPr lang="en-US" sz="1400" dirty="0"/>
          </a:p>
        </p:txBody>
      </p:sp>
      <p:sp>
        <p:nvSpPr>
          <p:cNvPr id="22" name="Abstract card Expected outcome"/>
          <p:cNvSpPr/>
          <p:nvPr/>
        </p:nvSpPr>
        <p:spPr>
          <a:xfrm>
            <a:off x="6675120" y="4480560"/>
            <a:ext cx="4965192" cy="1371600"/>
          </a:xfrm>
          <a:prstGeom prst="roundRect">
            <a:avLst>
              <a:gd name="adj" fmla="val 6667"/>
            </a:avLst>
          </a:prstGeom>
          <a:solidFill>
            <a:schemeClr val="bg2"/>
          </a:solidFill>
        </p:spPr>
      </p:sp>
      <p:sp>
        <p:nvSpPr>
          <p:cNvPr id="23" name="Icon circle FaCheckCircle"/>
          <p:cNvSpPr/>
          <p:nvPr/>
        </p:nvSpPr>
        <p:spPr>
          <a:xfrm>
            <a:off x="6903720" y="4846320"/>
            <a:ext cx="640080" cy="640080"/>
          </a:xfrm>
          <a:prstGeom prst="ellipse">
            <a:avLst/>
          </a:prstGeom>
          <a:solidFill>
            <a:schemeClr val="accent1"/>
          </a:solidFill>
        </p:spPr>
      </p:sp>
      <p:pic>
        <p:nvPicPr>
          <p:cNvPr id="24" name="Image 2" descr="CheckCircle icon"/>
          <p:cNvPicPr>
            <a:picLocks noChangeAspect="1"/>
          </p:cNvPicPr>
          <p:nvPr/>
        </p:nvPicPr>
        <p:blipFill>
          <a:blip r:embed="rId3"/>
          <a:stretch>
            <a:fillRect/>
          </a:stretch>
        </p:blipFill>
        <p:spPr>
          <a:xfrm>
            <a:off x="7063740" y="5006340"/>
            <a:ext cx="320040" cy="320040"/>
          </a:xfrm>
          <a:prstGeom prst="rect">
            <a:avLst/>
          </a:prstGeom>
        </p:spPr>
      </p:pic>
      <p:sp>
        <p:nvSpPr>
          <p:cNvPr id="25" name="Text 20"/>
          <p:cNvSpPr txBox="1"/>
          <p:nvPr/>
        </p:nvSpPr>
        <p:spPr>
          <a:xfrm>
            <a:off x="7772400" y="4663440"/>
            <a:ext cx="3657600" cy="365760"/>
          </a:xfrm>
          <a:prstGeom prst="rect">
            <a:avLst/>
          </a:prstGeom>
          <a:noFill/>
        </p:spPr>
        <p:txBody>
          <a:bodyPr wrap="square" lIns="0" tIns="0" rIns="0" bIns="0" rtlCol="0" anchor="t"/>
          <a:lstStyle/>
          <a:p>
            <a:pPr marL="0" indent="0">
              <a:buNone/>
            </a:pPr>
            <a:r>
              <a:rPr lang="en-US" sz="1800" b="1" dirty="0">
                <a:solidFill>
                  <a:schemeClr val="tx2"/>
                </a:solidFill>
              </a:rPr>
              <a:t>Expected outcome</a:t>
            </a:r>
            <a:endParaRPr lang="en-US" sz="1800" dirty="0"/>
          </a:p>
        </p:txBody>
      </p:sp>
      <p:sp>
        <p:nvSpPr>
          <p:cNvPr id="26" name="Text 21"/>
          <p:cNvSpPr txBox="1"/>
          <p:nvPr/>
        </p:nvSpPr>
        <p:spPr>
          <a:xfrm>
            <a:off x="7772400" y="5074920"/>
            <a:ext cx="3703320" cy="685800"/>
          </a:xfrm>
          <a:prstGeom prst="rect">
            <a:avLst/>
          </a:prstGeom>
          <a:noFill/>
        </p:spPr>
        <p:txBody>
          <a:bodyPr wrap="square" lIns="0" tIns="0" rIns="0" bIns="0" rtlCol="0" anchor="t"/>
          <a:lstStyle/>
          <a:p>
            <a:pPr marL="0" indent="0">
              <a:buNone/>
            </a:pPr>
            <a:r>
              <a:rPr lang="en-US" sz="1400" dirty="0">
                <a:solidFill>
                  <a:schemeClr val="tx1"/>
                </a:solidFill>
              </a:rPr>
              <a:t>A stable two-way chat that disconnects gracefully on /quit.</a:t>
            </a:r>
            <a:endParaRPr lang="en-US" sz="1400" dirty="0"/>
          </a:p>
        </p:txBody>
      </p:sp>
      <p:sp>
        <p:nvSpPr>
          <p:cNvPr id="27" name="Slide Number Placeholder 0"/>
          <p:cNvSpPr>
            <a:spLocks noGrp="1"/>
          </p:cNvSpPr>
          <p:nvPr>
            <p:ph type="sldNum" sz="quarter" idx="4294967295"/>
          </p:nvPr>
        </p:nvSpPr>
        <p:spPr>
          <a:xfrm>
            <a:off x="10972800" y="6382512"/>
            <a:ext cx="667512" cy="274320"/>
          </a:xfrm>
          <a:prstGeom prst="rect">
            <a:avLst/>
          </a:prstGeom>
        </p:spPr>
        <p:txBody>
          <a:bodyPr/>
          <a:lstStyle>
            <a:lvl1pPr>
              <a:defRPr sz="1000">
                <a:solidFill>
                  <a:schemeClr val="accent5"/>
                </a:solidFill>
              </a:defRPr>
            </a:lvl1pPr>
          </a:lstStyle>
          <a:p>
            <a:pPr algn="r"/>
            <a:fld id="{F7021451-1387-4CA6-816F-3879F97B5CBC}" type="slidenum">
              <a:rPr lang="en-US" b="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548640" y="320040"/>
            <a:ext cx="11091672" cy="777240"/>
          </a:xfrm>
          <a:prstGeom prst="rect">
            <a:avLst/>
          </a:prstGeom>
          <a:noFill/>
        </p:spPr>
        <p:txBody>
          <a:bodyPr wrap="square" lIns="0" tIns="0" rIns="0" bIns="0" rtlCol="0" anchor="ctr"/>
          <a:lstStyle/>
          <a:p>
            <a:pPr marL="0" indent="0" algn="l">
              <a:buNone/>
            </a:pPr>
            <a:r>
              <a:rPr lang="en-US" sz="3200" b="1" dirty="0">
                <a:solidFill>
                  <a:schemeClr val="tx2"/>
                </a:solidFill>
              </a:rPr>
              <a:t>Problem Statement</a:t>
            </a:r>
            <a:endParaRPr lang="en-US" sz="3200" dirty="0"/>
          </a:p>
        </p:txBody>
      </p:sp>
      <p:sp>
        <p:nvSpPr>
          <p:cNvPr id="3" name="Text 1"/>
          <p:cNvSpPr txBox="1"/>
          <p:nvPr/>
        </p:nvSpPr>
        <p:spPr>
          <a:xfrm>
            <a:off x="548640" y="1371600"/>
            <a:ext cx="5577840" cy="4480560"/>
          </a:xfrm>
          <a:prstGeom prst="rect">
            <a:avLst/>
          </a:prstGeom>
          <a:noFill/>
        </p:spPr>
        <p:txBody>
          <a:bodyPr wrap="square" lIns="0" tIns="0" rIns="0" bIns="0" rtlCol="0" anchor="t"/>
          <a:lstStyle/>
          <a:p>
            <a:pPr marL="228600" indent="-228600">
              <a:spcAft>
                <a:spcPts val="1400"/>
              </a:spcAft>
              <a:buSzPct val="100000"/>
              <a:buChar char="•"/>
            </a:pPr>
            <a:r>
              <a:rPr lang="en-US" sz="1800" dirty="0">
                <a:solidFill>
                  <a:schemeClr val="tx1"/>
                </a:solidFill>
              </a:rPr>
              <a:t>Every process runs in its own isolated virtual address space.</a:t>
            </a:r>
            <a:endParaRPr lang="en-US" sz="1800" dirty="0"/>
          </a:p>
          <a:p>
            <a:pPr marL="228600" indent="-228600">
              <a:spcAft>
                <a:spcPts val="1400"/>
              </a:spcAft>
              <a:buSzPct val="100000"/>
              <a:buChar char="•"/>
            </a:pPr>
            <a:r>
              <a:rPr lang="en-US" sz="1800" dirty="0">
                <a:solidFill>
                  <a:schemeClr val="tx1"/>
                </a:solidFill>
              </a:rPr>
              <a:t>One process cannot read or write another process's variables.</a:t>
            </a:r>
            <a:endParaRPr lang="en-US" sz="1800" dirty="0"/>
          </a:p>
          <a:p>
            <a:pPr marL="228600" indent="-228600">
              <a:spcAft>
                <a:spcPts val="1400"/>
              </a:spcAft>
              <a:buSzPct val="100000"/>
              <a:buChar char="•"/>
            </a:pPr>
            <a:r>
              <a:rPr lang="en-US" sz="1800" dirty="0">
                <a:solidFill>
                  <a:schemeClr val="tx1"/>
                </a:solidFill>
              </a:rPr>
              <a:t>Independent processes therefore need a kernel-mediated channel to exchange data.</a:t>
            </a:r>
            <a:endParaRPr lang="en-US" sz="1800" dirty="0"/>
          </a:p>
          <a:p>
            <a:pPr marL="228600" indent="-228600">
              <a:spcAft>
                <a:spcPts val="1400"/>
              </a:spcAft>
              <a:buSzPct val="100000"/>
              <a:buChar char="•"/>
            </a:pPr>
            <a:r>
              <a:rPr lang="en-US" sz="1800" dirty="0">
                <a:solidFill>
                  <a:schemeClr val="tx1"/>
                </a:solidFill>
              </a:rPr>
              <a:t>IPC provides that channel; FIFOs offer a simple, file-like interface for local two-way chat.</a:t>
            </a:r>
            <a:endParaRPr lang="en-US" sz="1800" dirty="0"/>
          </a:p>
        </p:txBody>
      </p:sp>
      <p:sp>
        <p:nvSpPr>
          <p:cNvPr id="4" name="Text 2"/>
          <p:cNvSpPr txBox="1"/>
          <p:nvPr/>
        </p:nvSpPr>
        <p:spPr>
          <a:xfrm>
            <a:off x="6583680" y="1280160"/>
            <a:ext cx="5029200" cy="320040"/>
          </a:xfrm>
          <a:prstGeom prst="rect">
            <a:avLst/>
          </a:prstGeom>
          <a:noFill/>
        </p:spPr>
        <p:txBody>
          <a:bodyPr wrap="square" lIns="0" tIns="0" rIns="0" bIns="0" rtlCol="0" anchor="t"/>
          <a:lstStyle/>
          <a:p>
            <a:pPr marL="0" indent="0" algn="ctr">
              <a:buNone/>
            </a:pPr>
            <a:r>
              <a:rPr lang="en-US" sz="1400" i="1" dirty="0">
                <a:solidFill>
                  <a:schemeClr val="accent5"/>
                </a:solidFill>
              </a:rPr>
              <a:t>No direct access to each other's memory</a:t>
            </a:r>
            <a:endParaRPr lang="en-US" sz="1400" dirty="0"/>
          </a:p>
        </p:txBody>
      </p:sp>
      <p:sp>
        <p:nvSpPr>
          <p:cNvPr id="5" name="Process A box"/>
          <p:cNvSpPr/>
          <p:nvPr/>
        </p:nvSpPr>
        <p:spPr>
          <a:xfrm>
            <a:off x="6583680" y="1691640"/>
            <a:ext cx="2103120" cy="1508760"/>
          </a:xfrm>
          <a:prstGeom prst="roundRect">
            <a:avLst>
              <a:gd name="adj" fmla="val 6061"/>
            </a:avLst>
          </a:prstGeom>
          <a:solidFill>
            <a:schemeClr val="bg2"/>
          </a:solidFill>
        </p:spPr>
      </p:sp>
      <p:sp>
        <p:nvSpPr>
          <p:cNvPr id="6" name="Text 4"/>
          <p:cNvSpPr txBox="1"/>
          <p:nvPr/>
        </p:nvSpPr>
        <p:spPr>
          <a:xfrm>
            <a:off x="6583680" y="1691640"/>
            <a:ext cx="2103120" cy="1508760"/>
          </a:xfrm>
          <a:prstGeom prst="rect">
            <a:avLst/>
          </a:prstGeom>
          <a:noFill/>
        </p:spPr>
        <p:txBody>
          <a:bodyPr wrap="square" lIns="0" tIns="0" rIns="0" bIns="0" rtlCol="0" anchor="ctr"/>
          <a:lstStyle/>
          <a:p>
            <a:pPr marL="0" indent="0" algn="ctr">
              <a:buNone/>
            </a:pPr>
            <a:r>
              <a:rPr lang="en-US" sz="1800" b="1" dirty="0">
                <a:solidFill>
                  <a:schemeClr val="tx2"/>
                </a:solidFill>
              </a:rPr>
              <a:t>Process A</a:t>
            </a:r>
            <a:endParaRPr lang="en-US" sz="1400" dirty="0"/>
          </a:p>
          <a:p>
            <a:pPr marL="0" indent="0" algn="ctr">
              <a:buNone/>
            </a:pPr>
            <a:r>
              <a:rPr lang="en-US" sz="1200" dirty="0">
                <a:solidFill>
                  <a:schemeClr val="accent5"/>
                </a:solidFill>
              </a:rPr>
              <a:t>own address space</a:t>
            </a:r>
            <a:endParaRPr lang="en-US" sz="1400" dirty="0"/>
          </a:p>
        </p:txBody>
      </p:sp>
      <p:sp>
        <p:nvSpPr>
          <p:cNvPr id="7" name="Process B box"/>
          <p:cNvSpPr/>
          <p:nvPr/>
        </p:nvSpPr>
        <p:spPr>
          <a:xfrm>
            <a:off x="9509760" y="1691640"/>
            <a:ext cx="2103120" cy="1508760"/>
          </a:xfrm>
          <a:prstGeom prst="roundRect">
            <a:avLst>
              <a:gd name="adj" fmla="val 6061"/>
            </a:avLst>
          </a:prstGeom>
          <a:solidFill>
            <a:schemeClr val="bg2"/>
          </a:solidFill>
        </p:spPr>
      </p:sp>
      <p:sp>
        <p:nvSpPr>
          <p:cNvPr id="8" name="Text 6"/>
          <p:cNvSpPr txBox="1"/>
          <p:nvPr/>
        </p:nvSpPr>
        <p:spPr>
          <a:xfrm>
            <a:off x="9509760" y="1691640"/>
            <a:ext cx="2103120" cy="1508760"/>
          </a:xfrm>
          <a:prstGeom prst="rect">
            <a:avLst/>
          </a:prstGeom>
          <a:noFill/>
        </p:spPr>
        <p:txBody>
          <a:bodyPr wrap="square" lIns="0" tIns="0" rIns="0" bIns="0" rtlCol="0" anchor="ctr"/>
          <a:lstStyle/>
          <a:p>
            <a:pPr marL="0" indent="0" algn="ctr">
              <a:buNone/>
            </a:pPr>
            <a:r>
              <a:rPr lang="en-US" sz="1800" b="1" dirty="0">
                <a:solidFill>
                  <a:schemeClr val="tx2"/>
                </a:solidFill>
              </a:rPr>
              <a:t>Process B</a:t>
            </a:r>
            <a:endParaRPr lang="en-US" sz="1400" dirty="0"/>
          </a:p>
          <a:p>
            <a:pPr marL="0" indent="0" algn="ctr">
              <a:buNone/>
            </a:pPr>
            <a:r>
              <a:rPr lang="en-US" sz="1200" dirty="0">
                <a:solidFill>
                  <a:schemeClr val="accent5"/>
                </a:solidFill>
              </a:rPr>
              <a:t>own address space</a:t>
            </a:r>
            <a:endParaRPr lang="en-US" sz="1400" dirty="0"/>
          </a:p>
        </p:txBody>
      </p:sp>
      <p:sp>
        <p:nvSpPr>
          <p:cNvPr id="9" name="Shape 7"/>
          <p:cNvSpPr/>
          <p:nvPr/>
        </p:nvSpPr>
        <p:spPr>
          <a:xfrm>
            <a:off x="9098280" y="1691640"/>
            <a:ext cx="0" cy="1508760"/>
          </a:xfrm>
          <a:prstGeom prst="line">
            <a:avLst/>
          </a:prstGeom>
          <a:noFill/>
          <a:ln w="19050">
            <a:solidFill>
              <a:schemeClr val="accent5"/>
            </a:solidFill>
            <a:prstDash val="dash"/>
          </a:ln>
        </p:spPr>
      </p:sp>
      <p:sp>
        <p:nvSpPr>
          <p:cNvPr id="10" name="Blocked marker"/>
          <p:cNvSpPr/>
          <p:nvPr/>
        </p:nvSpPr>
        <p:spPr>
          <a:xfrm>
            <a:off x="8869680" y="2240280"/>
            <a:ext cx="457200" cy="457200"/>
          </a:xfrm>
          <a:prstGeom prst="ellipse">
            <a:avLst/>
          </a:prstGeom>
          <a:solidFill>
            <a:schemeClr val="bg1"/>
          </a:solidFill>
          <a:ln w="19050">
            <a:solidFill>
              <a:schemeClr val="accent5"/>
            </a:solidFill>
            <a:prstDash val="solid"/>
          </a:ln>
        </p:spPr>
      </p:sp>
      <p:sp>
        <p:nvSpPr>
          <p:cNvPr id="11" name="Text 9"/>
          <p:cNvSpPr txBox="1"/>
          <p:nvPr/>
        </p:nvSpPr>
        <p:spPr>
          <a:xfrm>
            <a:off x="8869680" y="2240280"/>
            <a:ext cx="457200" cy="457200"/>
          </a:xfrm>
          <a:prstGeom prst="rect">
            <a:avLst/>
          </a:prstGeom>
          <a:noFill/>
        </p:spPr>
        <p:txBody>
          <a:bodyPr wrap="square" lIns="0" tIns="0" rIns="0" bIns="0" rtlCol="0" anchor="ctr"/>
          <a:lstStyle/>
          <a:p>
            <a:pPr marL="0" indent="0" algn="ctr">
              <a:buNone/>
            </a:pPr>
            <a:r>
              <a:rPr lang="en-US" sz="1600" b="1" dirty="0">
                <a:solidFill>
                  <a:schemeClr val="accent5"/>
                </a:solidFill>
              </a:rPr>
              <a:t>✕</a:t>
            </a:r>
            <a:endParaRPr lang="en-US" sz="1600" dirty="0"/>
          </a:p>
        </p:txBody>
      </p:sp>
      <p:sp>
        <p:nvSpPr>
          <p:cNvPr id="12" name="Shape 10"/>
          <p:cNvSpPr/>
          <p:nvPr/>
        </p:nvSpPr>
        <p:spPr>
          <a:xfrm>
            <a:off x="7635240" y="3200400"/>
            <a:ext cx="0" cy="868680"/>
          </a:xfrm>
          <a:prstGeom prst="line">
            <a:avLst/>
          </a:prstGeom>
          <a:noFill/>
          <a:ln w="31750">
            <a:solidFill>
              <a:schemeClr val="accent1"/>
            </a:solidFill>
            <a:prstDash val="solid"/>
            <a:headEnd type="triangle"/>
            <a:tailEnd type="triangle"/>
          </a:ln>
        </p:spPr>
      </p:sp>
      <p:sp>
        <p:nvSpPr>
          <p:cNvPr id="13" name="Shape 11"/>
          <p:cNvSpPr/>
          <p:nvPr/>
        </p:nvSpPr>
        <p:spPr>
          <a:xfrm>
            <a:off x="10561320" y="3200400"/>
            <a:ext cx="0" cy="868680"/>
          </a:xfrm>
          <a:prstGeom prst="line">
            <a:avLst/>
          </a:prstGeom>
          <a:noFill/>
          <a:ln w="31750">
            <a:solidFill>
              <a:schemeClr val="accent1"/>
            </a:solidFill>
            <a:prstDash val="solid"/>
            <a:headEnd type="triangle"/>
            <a:tailEnd type="triangle"/>
          </a:ln>
        </p:spPr>
      </p:sp>
      <p:sp>
        <p:nvSpPr>
          <p:cNvPr id="14" name="Kernel IPC bar"/>
          <p:cNvSpPr/>
          <p:nvPr/>
        </p:nvSpPr>
        <p:spPr>
          <a:xfrm>
            <a:off x="6583680" y="4069080"/>
            <a:ext cx="5029200" cy="868680"/>
          </a:xfrm>
          <a:prstGeom prst="roundRect">
            <a:avLst>
              <a:gd name="adj" fmla="val 10526"/>
            </a:avLst>
          </a:prstGeom>
          <a:solidFill>
            <a:schemeClr val="accent6"/>
          </a:solidFill>
        </p:spPr>
      </p:sp>
      <p:sp>
        <p:nvSpPr>
          <p:cNvPr id="15" name="Text 13"/>
          <p:cNvSpPr txBox="1"/>
          <p:nvPr/>
        </p:nvSpPr>
        <p:spPr>
          <a:xfrm>
            <a:off x="6583680" y="4069080"/>
            <a:ext cx="5029200" cy="868680"/>
          </a:xfrm>
          <a:prstGeom prst="rect">
            <a:avLst/>
          </a:prstGeom>
          <a:noFill/>
        </p:spPr>
        <p:txBody>
          <a:bodyPr wrap="square" lIns="0" tIns="0" rIns="0" bIns="0" rtlCol="0" anchor="ctr"/>
          <a:lstStyle/>
          <a:p>
            <a:pPr marL="0" indent="0" algn="ctr">
              <a:buNone/>
            </a:pPr>
            <a:r>
              <a:rPr lang="en-US" sz="1600" b="1" dirty="0">
                <a:solidFill>
                  <a:schemeClr val="bg1"/>
                </a:solidFill>
              </a:rPr>
              <a:t>Kernel-mediated IPC channel (FIFO)</a:t>
            </a:r>
            <a:endParaRPr lang="en-US" sz="1600" dirty="0"/>
          </a:p>
        </p:txBody>
      </p:sp>
      <p:sp>
        <p:nvSpPr>
          <p:cNvPr id="16" name="Text 14"/>
          <p:cNvSpPr txBox="1"/>
          <p:nvPr/>
        </p:nvSpPr>
        <p:spPr>
          <a:xfrm>
            <a:off x="6583680" y="5166360"/>
            <a:ext cx="5029200" cy="365760"/>
          </a:xfrm>
          <a:prstGeom prst="rect">
            <a:avLst/>
          </a:prstGeom>
          <a:noFill/>
        </p:spPr>
        <p:txBody>
          <a:bodyPr wrap="square" lIns="0" tIns="0" rIns="0" bIns="0" rtlCol="0" anchor="t"/>
          <a:lstStyle/>
          <a:p>
            <a:pPr marL="0" indent="0" algn="ctr">
              <a:buNone/>
            </a:pPr>
            <a:r>
              <a:rPr lang="en-US" sz="1400" dirty="0">
                <a:solidFill>
                  <a:schemeClr val="accent5"/>
                </a:solidFill>
              </a:rPr>
              <a:t>Only the kernel can bridge two separate address spaces.</a:t>
            </a:r>
            <a:endParaRPr lang="en-US" sz="1400" dirty="0"/>
          </a:p>
        </p:txBody>
      </p:sp>
      <p:sp>
        <p:nvSpPr>
          <p:cNvPr id="25" name="Slide Number Placeholder 0"/>
          <p:cNvSpPr>
            <a:spLocks noGrp="1"/>
          </p:cNvSpPr>
          <p:nvPr>
            <p:ph type="sldNum" sz="quarter" idx="4294967295"/>
          </p:nvPr>
        </p:nvSpPr>
        <p:spPr>
          <a:xfrm>
            <a:off x="10972800" y="6382512"/>
            <a:ext cx="667512" cy="274320"/>
          </a:xfrm>
          <a:prstGeom prst="rect">
            <a:avLst/>
          </a:prstGeom>
        </p:spPr>
        <p:txBody>
          <a:bodyPr/>
          <a:lstStyle>
            <a:lvl1pPr>
              <a:defRPr sz="1000">
                <a:solidFill>
                  <a:schemeClr val="accent5"/>
                </a:solidFill>
              </a:defRPr>
            </a:lvl1pPr>
          </a:lstStyle>
          <a:p>
            <a:pPr algn="r"/>
            <a:fld id="{F7021451-1387-4CA6-816F-3879F97B5CBC}" type="slidenum">
              <a:rPr lang="en-US" b="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548640" y="320040"/>
            <a:ext cx="11091672" cy="777240"/>
          </a:xfrm>
          <a:prstGeom prst="rect">
            <a:avLst/>
          </a:prstGeom>
          <a:noFill/>
        </p:spPr>
        <p:txBody>
          <a:bodyPr wrap="square" lIns="0" tIns="0" rIns="0" bIns="0" rtlCol="0" anchor="ctr"/>
          <a:lstStyle/>
          <a:p>
            <a:pPr marL="0" indent="0" algn="l">
              <a:buNone/>
            </a:pPr>
            <a:r>
              <a:rPr lang="en-US" sz="3200" b="1" dirty="0">
                <a:solidFill>
                  <a:schemeClr val="tx2"/>
                </a:solidFill>
              </a:rPr>
              <a:t>Objectives</a:t>
            </a:r>
            <a:endParaRPr lang="en-US" sz="3200" dirty="0"/>
          </a:p>
        </p:txBody>
      </p:sp>
      <p:sp>
        <p:nvSpPr>
          <p:cNvPr id="3" name="Objective card Bidirectional communication"/>
          <p:cNvSpPr/>
          <p:nvPr/>
        </p:nvSpPr>
        <p:spPr>
          <a:xfrm>
            <a:off x="548640" y="1371600"/>
            <a:ext cx="5376672" cy="2240280"/>
          </a:xfrm>
          <a:prstGeom prst="roundRect">
            <a:avLst>
              <a:gd name="adj" fmla="val 4082"/>
            </a:avLst>
          </a:prstGeom>
          <a:solidFill>
            <a:schemeClr val="bg2"/>
          </a:solidFill>
        </p:spPr>
      </p:sp>
      <p:sp>
        <p:nvSpPr>
          <p:cNvPr id="4" name="Icon circle FaExchangeAlt"/>
          <p:cNvSpPr/>
          <p:nvPr/>
        </p:nvSpPr>
        <p:spPr>
          <a:xfrm>
            <a:off x="868680" y="1737360"/>
            <a:ext cx="731520" cy="731520"/>
          </a:xfrm>
          <a:prstGeom prst="ellipse">
            <a:avLst/>
          </a:prstGeom>
          <a:solidFill>
            <a:schemeClr val="accent1"/>
          </a:solidFill>
        </p:spPr>
      </p:sp>
      <p:pic>
        <p:nvPicPr>
          <p:cNvPr id="5" name="Image 0" descr="ExchangeAlt icon"/>
          <p:cNvPicPr>
            <a:picLocks noChangeAspect="1"/>
          </p:cNvPicPr>
          <p:nvPr/>
        </p:nvPicPr>
        <p:blipFill>
          <a:blip r:embed="rId1"/>
          <a:stretch>
            <a:fillRect/>
          </a:stretch>
        </p:blipFill>
        <p:spPr>
          <a:xfrm>
            <a:off x="1051560" y="1920240"/>
            <a:ext cx="365760" cy="365760"/>
          </a:xfrm>
          <a:prstGeom prst="rect">
            <a:avLst/>
          </a:prstGeom>
        </p:spPr>
      </p:pic>
      <p:sp>
        <p:nvSpPr>
          <p:cNvPr id="6" name="Text 3"/>
          <p:cNvSpPr txBox="1"/>
          <p:nvPr/>
        </p:nvSpPr>
        <p:spPr>
          <a:xfrm>
            <a:off x="4846320" y="1645920"/>
            <a:ext cx="822960" cy="548640"/>
          </a:xfrm>
          <a:prstGeom prst="rect">
            <a:avLst/>
          </a:prstGeom>
          <a:noFill/>
        </p:spPr>
        <p:txBody>
          <a:bodyPr wrap="square" lIns="0" tIns="0" rIns="0" bIns="0" rtlCol="0" anchor="t"/>
          <a:lstStyle/>
          <a:p>
            <a:pPr marL="0" indent="0" algn="r">
              <a:buNone/>
            </a:pPr>
            <a:r>
              <a:rPr lang="en-US" sz="2800" b="1" dirty="0">
                <a:solidFill>
                  <a:schemeClr val="accent2"/>
                </a:solidFill>
              </a:rPr>
              <a:t>01</a:t>
            </a:r>
            <a:endParaRPr lang="en-US" sz="2800" dirty="0"/>
          </a:p>
        </p:txBody>
      </p:sp>
      <p:sp>
        <p:nvSpPr>
          <p:cNvPr id="7" name="Text 4"/>
          <p:cNvSpPr txBox="1"/>
          <p:nvPr/>
        </p:nvSpPr>
        <p:spPr>
          <a:xfrm>
            <a:off x="868680" y="2651760"/>
            <a:ext cx="4754880" cy="365760"/>
          </a:xfrm>
          <a:prstGeom prst="rect">
            <a:avLst/>
          </a:prstGeom>
          <a:noFill/>
        </p:spPr>
        <p:txBody>
          <a:bodyPr wrap="square" lIns="0" tIns="0" rIns="0" bIns="0" rtlCol="0" anchor="t"/>
          <a:lstStyle/>
          <a:p>
            <a:pPr marL="0" indent="0">
              <a:buNone/>
            </a:pPr>
            <a:r>
              <a:rPr lang="en-US" sz="2000" b="1" dirty="0">
                <a:solidFill>
                  <a:schemeClr val="tx2"/>
                </a:solidFill>
              </a:rPr>
              <a:t>Bidirectional communication</a:t>
            </a:r>
            <a:endParaRPr lang="en-US" sz="2000" dirty="0"/>
          </a:p>
        </p:txBody>
      </p:sp>
      <p:sp>
        <p:nvSpPr>
          <p:cNvPr id="8" name="Text 5"/>
          <p:cNvSpPr txBox="1"/>
          <p:nvPr/>
        </p:nvSpPr>
        <p:spPr>
          <a:xfrm>
            <a:off x="868680" y="3063240"/>
            <a:ext cx="4754880" cy="457200"/>
          </a:xfrm>
          <a:prstGeom prst="rect">
            <a:avLst/>
          </a:prstGeom>
          <a:noFill/>
        </p:spPr>
        <p:txBody>
          <a:bodyPr wrap="square" lIns="0" tIns="0" rIns="0" bIns="0" rtlCol="0" anchor="t"/>
          <a:lstStyle/>
          <a:p>
            <a:pPr marL="0" indent="0">
              <a:buNone/>
            </a:pPr>
            <a:r>
              <a:rPr lang="en-US" sz="1400" dirty="0">
                <a:solidFill>
                  <a:schemeClr val="tx1"/>
                </a:solidFill>
              </a:rPr>
              <a:t>Two processes send and receive messages at the same time.</a:t>
            </a:r>
            <a:endParaRPr lang="en-US" sz="1400" dirty="0"/>
          </a:p>
        </p:txBody>
      </p:sp>
      <p:sp>
        <p:nvSpPr>
          <p:cNvPr id="9" name="Objective card Named pipes (FIFOs)"/>
          <p:cNvSpPr/>
          <p:nvPr/>
        </p:nvSpPr>
        <p:spPr>
          <a:xfrm>
            <a:off x="6263640" y="1371600"/>
            <a:ext cx="5376672" cy="2240280"/>
          </a:xfrm>
          <a:prstGeom prst="roundRect">
            <a:avLst>
              <a:gd name="adj" fmla="val 4082"/>
            </a:avLst>
          </a:prstGeom>
          <a:solidFill>
            <a:schemeClr val="bg2"/>
          </a:solidFill>
        </p:spPr>
      </p:sp>
      <p:sp>
        <p:nvSpPr>
          <p:cNvPr id="10" name="Icon circle FaPlug"/>
          <p:cNvSpPr/>
          <p:nvPr/>
        </p:nvSpPr>
        <p:spPr>
          <a:xfrm>
            <a:off x="6583680" y="1737360"/>
            <a:ext cx="731520" cy="731520"/>
          </a:xfrm>
          <a:prstGeom prst="ellipse">
            <a:avLst/>
          </a:prstGeom>
          <a:solidFill>
            <a:schemeClr val="accent1"/>
          </a:solidFill>
        </p:spPr>
      </p:sp>
      <p:pic>
        <p:nvPicPr>
          <p:cNvPr id="11" name="Image 1" descr="Plug icon"/>
          <p:cNvPicPr>
            <a:picLocks noChangeAspect="1"/>
          </p:cNvPicPr>
          <p:nvPr/>
        </p:nvPicPr>
        <p:blipFill>
          <a:blip r:embed="rId2"/>
          <a:stretch>
            <a:fillRect/>
          </a:stretch>
        </p:blipFill>
        <p:spPr>
          <a:xfrm>
            <a:off x="6766560" y="1920240"/>
            <a:ext cx="365760" cy="365760"/>
          </a:xfrm>
          <a:prstGeom prst="rect">
            <a:avLst/>
          </a:prstGeom>
        </p:spPr>
      </p:pic>
      <p:sp>
        <p:nvSpPr>
          <p:cNvPr id="12" name="Text 8"/>
          <p:cNvSpPr txBox="1"/>
          <p:nvPr/>
        </p:nvSpPr>
        <p:spPr>
          <a:xfrm>
            <a:off x="10561320" y="1645920"/>
            <a:ext cx="822960" cy="548640"/>
          </a:xfrm>
          <a:prstGeom prst="rect">
            <a:avLst/>
          </a:prstGeom>
          <a:noFill/>
        </p:spPr>
        <p:txBody>
          <a:bodyPr wrap="square" lIns="0" tIns="0" rIns="0" bIns="0" rtlCol="0" anchor="t"/>
          <a:lstStyle/>
          <a:p>
            <a:pPr marL="0" indent="0" algn="r">
              <a:buNone/>
            </a:pPr>
            <a:r>
              <a:rPr lang="en-US" sz="2800" b="1" dirty="0">
                <a:solidFill>
                  <a:schemeClr val="accent2"/>
                </a:solidFill>
              </a:rPr>
              <a:t>02</a:t>
            </a:r>
            <a:endParaRPr lang="en-US" sz="2800" dirty="0"/>
          </a:p>
        </p:txBody>
      </p:sp>
      <p:sp>
        <p:nvSpPr>
          <p:cNvPr id="13" name="Text 9"/>
          <p:cNvSpPr txBox="1"/>
          <p:nvPr/>
        </p:nvSpPr>
        <p:spPr>
          <a:xfrm>
            <a:off x="6583680" y="2651760"/>
            <a:ext cx="4754880" cy="365760"/>
          </a:xfrm>
          <a:prstGeom prst="rect">
            <a:avLst/>
          </a:prstGeom>
          <a:noFill/>
        </p:spPr>
        <p:txBody>
          <a:bodyPr wrap="square" lIns="0" tIns="0" rIns="0" bIns="0" rtlCol="0" anchor="t"/>
          <a:lstStyle/>
          <a:p>
            <a:pPr marL="0" indent="0">
              <a:buNone/>
            </a:pPr>
            <a:r>
              <a:rPr lang="en-US" sz="2000" b="1" dirty="0">
                <a:solidFill>
                  <a:schemeClr val="tx2"/>
                </a:solidFill>
              </a:rPr>
              <a:t>Named pipes (FIFOs)</a:t>
            </a:r>
            <a:endParaRPr lang="en-US" sz="2000" dirty="0"/>
          </a:p>
        </p:txBody>
      </p:sp>
      <p:sp>
        <p:nvSpPr>
          <p:cNvPr id="14" name="Text 10"/>
          <p:cNvSpPr txBox="1"/>
          <p:nvPr/>
        </p:nvSpPr>
        <p:spPr>
          <a:xfrm>
            <a:off x="6583680" y="3063240"/>
            <a:ext cx="4754880" cy="457200"/>
          </a:xfrm>
          <a:prstGeom prst="rect">
            <a:avLst/>
          </a:prstGeom>
          <a:noFill/>
        </p:spPr>
        <p:txBody>
          <a:bodyPr wrap="square" lIns="0" tIns="0" rIns="0" bIns="0" rtlCol="0" anchor="t"/>
          <a:lstStyle/>
          <a:p>
            <a:pPr marL="0" indent="0">
              <a:buNone/>
            </a:pPr>
            <a:r>
              <a:rPr lang="en-US" sz="1400" dirty="0">
                <a:solidFill>
                  <a:schemeClr val="tx1"/>
                </a:solidFill>
              </a:rPr>
              <a:t>Use two FIFOs, one per direction, created with mkfifo().</a:t>
            </a:r>
            <a:endParaRPr lang="en-US" sz="1400" dirty="0"/>
          </a:p>
        </p:txBody>
      </p:sp>
      <p:sp>
        <p:nvSpPr>
          <p:cNvPr id="15" name="Objective card Signal handling"/>
          <p:cNvSpPr/>
          <p:nvPr/>
        </p:nvSpPr>
        <p:spPr>
          <a:xfrm>
            <a:off x="548640" y="3840480"/>
            <a:ext cx="5376672" cy="2240280"/>
          </a:xfrm>
          <a:prstGeom prst="roundRect">
            <a:avLst>
              <a:gd name="adj" fmla="val 4082"/>
            </a:avLst>
          </a:prstGeom>
          <a:solidFill>
            <a:schemeClr val="bg2"/>
          </a:solidFill>
        </p:spPr>
      </p:sp>
      <p:sp>
        <p:nvSpPr>
          <p:cNvPr id="16" name="Icon circle FaBell"/>
          <p:cNvSpPr/>
          <p:nvPr/>
        </p:nvSpPr>
        <p:spPr>
          <a:xfrm>
            <a:off x="868680" y="4206240"/>
            <a:ext cx="731520" cy="731520"/>
          </a:xfrm>
          <a:prstGeom prst="ellipse">
            <a:avLst/>
          </a:prstGeom>
          <a:solidFill>
            <a:schemeClr val="accent1"/>
          </a:solidFill>
        </p:spPr>
      </p:sp>
      <p:pic>
        <p:nvPicPr>
          <p:cNvPr id="17" name="Image 2" descr="Bell icon"/>
          <p:cNvPicPr>
            <a:picLocks noChangeAspect="1"/>
          </p:cNvPicPr>
          <p:nvPr/>
        </p:nvPicPr>
        <p:blipFill>
          <a:blip r:embed="rId3"/>
          <a:stretch>
            <a:fillRect/>
          </a:stretch>
        </p:blipFill>
        <p:spPr>
          <a:xfrm>
            <a:off x="1051560" y="4389120"/>
            <a:ext cx="365760" cy="365760"/>
          </a:xfrm>
          <a:prstGeom prst="rect">
            <a:avLst/>
          </a:prstGeom>
        </p:spPr>
      </p:pic>
      <p:sp>
        <p:nvSpPr>
          <p:cNvPr id="18" name="Text 13"/>
          <p:cNvSpPr txBox="1"/>
          <p:nvPr/>
        </p:nvSpPr>
        <p:spPr>
          <a:xfrm>
            <a:off x="4846320" y="4114800"/>
            <a:ext cx="822960" cy="548640"/>
          </a:xfrm>
          <a:prstGeom prst="rect">
            <a:avLst/>
          </a:prstGeom>
          <a:noFill/>
        </p:spPr>
        <p:txBody>
          <a:bodyPr wrap="square" lIns="0" tIns="0" rIns="0" bIns="0" rtlCol="0" anchor="t"/>
          <a:lstStyle/>
          <a:p>
            <a:pPr marL="0" indent="0" algn="r">
              <a:buNone/>
            </a:pPr>
            <a:r>
              <a:rPr lang="en-US" sz="2800" b="1" dirty="0">
                <a:solidFill>
                  <a:schemeClr val="accent2"/>
                </a:solidFill>
              </a:rPr>
              <a:t>03</a:t>
            </a:r>
            <a:endParaRPr lang="en-US" sz="2800" dirty="0"/>
          </a:p>
        </p:txBody>
      </p:sp>
      <p:sp>
        <p:nvSpPr>
          <p:cNvPr id="19" name="Text 14"/>
          <p:cNvSpPr txBox="1"/>
          <p:nvPr/>
        </p:nvSpPr>
        <p:spPr>
          <a:xfrm>
            <a:off x="868680" y="5120640"/>
            <a:ext cx="4754880" cy="365760"/>
          </a:xfrm>
          <a:prstGeom prst="rect">
            <a:avLst/>
          </a:prstGeom>
          <a:noFill/>
        </p:spPr>
        <p:txBody>
          <a:bodyPr wrap="square" lIns="0" tIns="0" rIns="0" bIns="0" rtlCol="0" anchor="t"/>
          <a:lstStyle/>
          <a:p>
            <a:pPr marL="0" indent="0">
              <a:buNone/>
            </a:pPr>
            <a:r>
              <a:rPr lang="en-US" sz="2000" b="1" dirty="0">
                <a:solidFill>
                  <a:schemeClr val="tx2"/>
                </a:solidFill>
              </a:rPr>
              <a:t>Signal handling</a:t>
            </a:r>
            <a:endParaRPr lang="en-US" sz="2000" dirty="0"/>
          </a:p>
        </p:txBody>
      </p:sp>
      <p:sp>
        <p:nvSpPr>
          <p:cNvPr id="20" name="Text 15"/>
          <p:cNvSpPr txBox="1"/>
          <p:nvPr/>
        </p:nvSpPr>
        <p:spPr>
          <a:xfrm>
            <a:off x="868680" y="5532120"/>
            <a:ext cx="4754880" cy="457200"/>
          </a:xfrm>
          <a:prstGeom prst="rect">
            <a:avLst/>
          </a:prstGeom>
          <a:noFill/>
        </p:spPr>
        <p:txBody>
          <a:bodyPr wrap="square" lIns="0" tIns="0" rIns="0" bIns="0" rtlCol="0" anchor="t"/>
          <a:lstStyle/>
          <a:p>
            <a:pPr marL="0" indent="0">
              <a:buNone/>
            </a:pPr>
            <a:r>
              <a:rPr lang="en-US" sz="1400" dirty="0">
                <a:solidFill>
                  <a:schemeClr val="tx1"/>
                </a:solidFill>
              </a:rPr>
              <a:t>Handle signals (e.g., SIGINT) and disconnect gracefully with /quit.</a:t>
            </a:r>
            <a:endParaRPr lang="en-US" sz="1400" dirty="0"/>
          </a:p>
        </p:txBody>
      </p:sp>
      <p:sp>
        <p:nvSpPr>
          <p:cNvPr id="21" name="Objective card Linux system calls"/>
          <p:cNvSpPr/>
          <p:nvPr/>
        </p:nvSpPr>
        <p:spPr>
          <a:xfrm>
            <a:off x="6263640" y="3840480"/>
            <a:ext cx="5376672" cy="2240280"/>
          </a:xfrm>
          <a:prstGeom prst="roundRect">
            <a:avLst>
              <a:gd name="adj" fmla="val 4082"/>
            </a:avLst>
          </a:prstGeom>
          <a:solidFill>
            <a:schemeClr val="bg2"/>
          </a:solidFill>
        </p:spPr>
      </p:sp>
      <p:sp>
        <p:nvSpPr>
          <p:cNvPr id="22" name="Icon circle FaTerminal"/>
          <p:cNvSpPr/>
          <p:nvPr/>
        </p:nvSpPr>
        <p:spPr>
          <a:xfrm>
            <a:off x="6583680" y="4206240"/>
            <a:ext cx="731520" cy="731520"/>
          </a:xfrm>
          <a:prstGeom prst="ellipse">
            <a:avLst/>
          </a:prstGeom>
          <a:solidFill>
            <a:schemeClr val="accent1"/>
          </a:solidFill>
        </p:spPr>
      </p:sp>
      <p:pic>
        <p:nvPicPr>
          <p:cNvPr id="23" name="Image 3" descr="Terminal icon"/>
          <p:cNvPicPr>
            <a:picLocks noChangeAspect="1"/>
          </p:cNvPicPr>
          <p:nvPr/>
        </p:nvPicPr>
        <p:blipFill>
          <a:blip r:embed="rId4"/>
          <a:stretch>
            <a:fillRect/>
          </a:stretch>
        </p:blipFill>
        <p:spPr>
          <a:xfrm>
            <a:off x="6766560" y="4389120"/>
            <a:ext cx="365760" cy="365760"/>
          </a:xfrm>
          <a:prstGeom prst="rect">
            <a:avLst/>
          </a:prstGeom>
        </p:spPr>
      </p:pic>
      <p:sp>
        <p:nvSpPr>
          <p:cNvPr id="24" name="Text 18"/>
          <p:cNvSpPr txBox="1"/>
          <p:nvPr/>
        </p:nvSpPr>
        <p:spPr>
          <a:xfrm>
            <a:off x="10561320" y="4114800"/>
            <a:ext cx="822960" cy="548640"/>
          </a:xfrm>
          <a:prstGeom prst="rect">
            <a:avLst/>
          </a:prstGeom>
          <a:noFill/>
        </p:spPr>
        <p:txBody>
          <a:bodyPr wrap="square" lIns="0" tIns="0" rIns="0" bIns="0" rtlCol="0" anchor="t"/>
          <a:lstStyle/>
          <a:p>
            <a:pPr marL="0" indent="0" algn="r">
              <a:buNone/>
            </a:pPr>
            <a:r>
              <a:rPr lang="en-US" sz="2800" b="1" dirty="0">
                <a:solidFill>
                  <a:schemeClr val="accent2"/>
                </a:solidFill>
              </a:rPr>
              <a:t>04</a:t>
            </a:r>
            <a:endParaRPr lang="en-US" sz="2800" dirty="0"/>
          </a:p>
        </p:txBody>
      </p:sp>
      <p:sp>
        <p:nvSpPr>
          <p:cNvPr id="25" name="Text 19"/>
          <p:cNvSpPr txBox="1"/>
          <p:nvPr/>
        </p:nvSpPr>
        <p:spPr>
          <a:xfrm>
            <a:off x="6583680" y="5120640"/>
            <a:ext cx="4754880" cy="365760"/>
          </a:xfrm>
          <a:prstGeom prst="rect">
            <a:avLst/>
          </a:prstGeom>
          <a:noFill/>
        </p:spPr>
        <p:txBody>
          <a:bodyPr wrap="square" lIns="0" tIns="0" rIns="0" bIns="0" rtlCol="0" anchor="t"/>
          <a:lstStyle/>
          <a:p>
            <a:pPr marL="0" indent="0">
              <a:buNone/>
            </a:pPr>
            <a:r>
              <a:rPr lang="en-US" sz="2000" b="1" dirty="0">
                <a:solidFill>
                  <a:schemeClr val="tx2"/>
                </a:solidFill>
              </a:rPr>
              <a:t>Linux system calls</a:t>
            </a:r>
            <a:endParaRPr lang="en-US" sz="2000" dirty="0"/>
          </a:p>
        </p:txBody>
      </p:sp>
      <p:sp>
        <p:nvSpPr>
          <p:cNvPr id="26" name="Text 20"/>
          <p:cNvSpPr txBox="1"/>
          <p:nvPr/>
        </p:nvSpPr>
        <p:spPr>
          <a:xfrm>
            <a:off x="6583680" y="5532120"/>
            <a:ext cx="4754880" cy="457200"/>
          </a:xfrm>
          <a:prstGeom prst="rect">
            <a:avLst/>
          </a:prstGeom>
          <a:noFill/>
        </p:spPr>
        <p:txBody>
          <a:bodyPr wrap="square" lIns="0" tIns="0" rIns="0" bIns="0" rtlCol="0" anchor="t"/>
          <a:lstStyle/>
          <a:p>
            <a:pPr marL="0" indent="0">
              <a:buNone/>
            </a:pPr>
            <a:r>
              <a:rPr lang="en-US" sz="1400" dirty="0">
                <a:solidFill>
                  <a:schemeClr val="tx1"/>
                </a:solidFill>
              </a:rPr>
              <a:t>Demonstrate open(), read(), write(), select(), fcntl() and close().</a:t>
            </a:r>
            <a:endParaRPr lang="en-US" sz="1400" dirty="0"/>
          </a:p>
        </p:txBody>
      </p:sp>
      <p:sp>
        <p:nvSpPr>
          <p:cNvPr id="27" name="Slide Number Placeholder 0"/>
          <p:cNvSpPr>
            <a:spLocks noGrp="1"/>
          </p:cNvSpPr>
          <p:nvPr>
            <p:ph type="sldNum" sz="quarter" idx="4294967295"/>
          </p:nvPr>
        </p:nvSpPr>
        <p:spPr>
          <a:xfrm>
            <a:off x="10972800" y="6382512"/>
            <a:ext cx="667512" cy="274320"/>
          </a:xfrm>
          <a:prstGeom prst="rect">
            <a:avLst/>
          </a:prstGeom>
        </p:spPr>
        <p:txBody>
          <a:bodyPr/>
          <a:lstStyle>
            <a:lvl1pPr>
              <a:defRPr sz="1000">
                <a:solidFill>
                  <a:schemeClr val="accent5"/>
                </a:solidFill>
              </a:defRPr>
            </a:lvl1pPr>
          </a:lstStyle>
          <a:p>
            <a:pPr algn="r"/>
            <a:fld id="{F7021451-1387-4CA6-816F-3879F97B5CBC}" type="slidenum">
              <a:rPr lang="en-US" b="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548640" y="320040"/>
            <a:ext cx="11091672" cy="777240"/>
          </a:xfrm>
          <a:prstGeom prst="rect">
            <a:avLst/>
          </a:prstGeom>
          <a:noFill/>
        </p:spPr>
        <p:txBody>
          <a:bodyPr wrap="square" lIns="0" tIns="0" rIns="0" bIns="0" rtlCol="0" anchor="ctr"/>
          <a:lstStyle/>
          <a:p>
            <a:pPr marL="0" indent="0" algn="l">
              <a:buNone/>
            </a:pPr>
            <a:r>
              <a:rPr lang="en-US" sz="3200" b="1" dirty="0">
                <a:solidFill>
                  <a:schemeClr val="tx2"/>
                </a:solidFill>
              </a:rPr>
              <a:t>Introduction to IPC</a:t>
            </a:r>
            <a:endParaRPr lang="en-US" sz="3200" dirty="0"/>
          </a:p>
        </p:txBody>
      </p:sp>
      <p:sp>
        <p:nvSpPr>
          <p:cNvPr id="3" name="Text 1"/>
          <p:cNvSpPr txBox="1"/>
          <p:nvPr/>
        </p:nvSpPr>
        <p:spPr>
          <a:xfrm>
            <a:off x="548640" y="1280160"/>
            <a:ext cx="11091672" cy="777240"/>
          </a:xfrm>
          <a:prstGeom prst="rect">
            <a:avLst/>
          </a:prstGeom>
          <a:noFill/>
        </p:spPr>
        <p:txBody>
          <a:bodyPr wrap="square" lIns="0" tIns="0" rIns="0" bIns="0" rtlCol="0" anchor="t"/>
          <a:lstStyle/>
          <a:p>
            <a:pPr marL="0" indent="0">
              <a:buNone/>
            </a:pPr>
            <a:r>
              <a:rPr lang="en-US" sz="1600" b="1" dirty="0">
                <a:solidFill>
                  <a:schemeClr val="tx2"/>
                </a:solidFill>
              </a:rPr>
              <a:t>Inter-Process Communication (IPC) </a:t>
            </a:r>
            <a:r>
              <a:rPr lang="en-US" sz="1600" dirty="0">
                <a:solidFill>
                  <a:schemeClr val="tx1"/>
                </a:solidFill>
              </a:rPr>
              <a:t>lets separate processes exchange data and coordinate, with the kernel acting as the intermediary. Common mechanisms: pipes, FIFOs, message queues, shared memory, sockets and signals.</a:t>
            </a:r>
            <a:endParaRPr lang="en-US" sz="1600" dirty="0"/>
          </a:p>
        </p:txBody>
      </p:sp>
      <p:graphicFrame>
        <p:nvGraphicFramePr>
          <p:cNvPr id="6" name="IPC comparison table"/>
          <p:cNvGraphicFramePr>
            <a:graphicFrameLocks noGrp="1"/>
          </p:cNvGraphicFramePr>
          <p:nvPr/>
        </p:nvGraphicFramePr>
        <p:xfrm>
          <a:off x="548640" y="2194560"/>
          <a:ext cx="11091672" cy="3639312"/>
        </p:xfrm>
        <a:graphic>
          <a:graphicData uri="http://schemas.openxmlformats.org/drawingml/2006/table">
            <a:tbl>
              <a:tblPr/>
              <a:tblGrid>
                <a:gridCol w="2834640"/>
                <a:gridCol w="4114800"/>
                <a:gridCol w="4142232"/>
              </a:tblGrid>
              <a:tr h="457200">
                <a:tc>
                  <a:txBody>
                    <a:bodyPr/>
                    <a:lstStyle/>
                    <a:p>
                      <a:pPr marL="0" indent="0">
                        <a:buNone/>
                      </a:pPr>
                      <a:r>
                        <a:rPr lang="en-US" sz="1400" b="1" dirty="0">
                          <a:solidFill>
                            <a:schemeClr val="bg1"/>
                          </a:solidFill>
                        </a:rPr>
                        <a:t>Feature</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Anonymous pipe</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Named pipe (FIFO)</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tx2"/>
                    </a:solidFill>
                  </a:tcPr>
                </a:tc>
              </a:tr>
              <a:tr h="530352">
                <a:tc>
                  <a:txBody>
                    <a:bodyPr/>
                    <a:lstStyle/>
                    <a:p>
                      <a:pPr marL="0" indent="0">
                        <a:buNone/>
                      </a:pPr>
                      <a:r>
                        <a:rPr lang="en-US" sz="1400" b="1" dirty="0">
                          <a:solidFill>
                            <a:schemeClr val="tx1"/>
                          </a:solidFill>
                        </a:rPr>
                        <a:t>Created with</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pipe()</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mkfifo()</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r>
              <a:tr h="530352">
                <a:tc>
                  <a:txBody>
                    <a:bodyPr/>
                    <a:lstStyle/>
                    <a:p>
                      <a:pPr marL="0" indent="0">
                        <a:buNone/>
                      </a:pPr>
                      <a:r>
                        <a:rPr lang="en-US" sz="1400" b="1" dirty="0">
                          <a:solidFill>
                            <a:schemeClr val="tx1"/>
                          </a:solidFill>
                        </a:rPr>
                        <a:t>Name in filesystem</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None</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Yes: a special file (type p)</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1"/>
                    </a:solidFill>
                  </a:tcPr>
                </a:tc>
              </a:tr>
              <a:tr h="530352">
                <a:tc>
                  <a:txBody>
                    <a:bodyPr/>
                    <a:lstStyle/>
                    <a:p>
                      <a:pPr marL="0" indent="0">
                        <a:buNone/>
                      </a:pPr>
                      <a:r>
                        <a:rPr lang="en-US" sz="1400" b="1" dirty="0">
                          <a:solidFill>
                            <a:schemeClr val="tx1"/>
                          </a:solidFill>
                        </a:rPr>
                        <a:t>Process relationship</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Related (e.g., parent and child via fork())</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Any processes, even unrelated</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r>
              <a:tr h="530352">
                <a:tc>
                  <a:txBody>
                    <a:bodyPr/>
                    <a:lstStyle/>
                    <a:p>
                      <a:pPr marL="0" indent="0">
                        <a:buNone/>
                      </a:pPr>
                      <a:r>
                        <a:rPr lang="en-US" sz="1400" b="1" dirty="0">
                          <a:solidFill>
                            <a:schemeClr val="tx1"/>
                          </a:solidFill>
                        </a:rPr>
                        <a:t>Lifetime</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Ends when all descriptors are closed</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Filesystem entry persists until deleted</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1"/>
                    </a:solidFill>
                  </a:tcPr>
                </a:tc>
              </a:tr>
              <a:tr h="530352">
                <a:tc>
                  <a:txBody>
                    <a:bodyPr/>
                    <a:lstStyle/>
                    <a:p>
                      <a:pPr marL="0" indent="0">
                        <a:buNone/>
                      </a:pPr>
                      <a:r>
                        <a:rPr lang="en-US" sz="1400" b="1" dirty="0">
                          <a:solidFill>
                            <a:schemeClr val="tx1"/>
                          </a:solidFill>
                        </a:rPr>
                        <a:t>Direction</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Unidirectional</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Unidirectional (use two for duplex)</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r>
              <a:tr h="530352">
                <a:tc>
                  <a:txBody>
                    <a:bodyPr/>
                    <a:lstStyle/>
                    <a:p>
                      <a:pPr marL="0" indent="0">
                        <a:buNone/>
                      </a:pPr>
                      <a:r>
                        <a:rPr lang="en-US" sz="1400" b="1" dirty="0">
                          <a:solidFill>
                            <a:schemeClr val="tx2"/>
                          </a:solidFill>
                        </a:rPr>
                        <a:t>Used in this project</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rgbClr val="D4E3F8"/>
                    </a:solidFill>
                  </a:tcPr>
                </a:tc>
                <a:tc>
                  <a:txBody>
                    <a:bodyPr/>
                    <a:lstStyle/>
                    <a:p>
                      <a:pPr marL="0" indent="0">
                        <a:buNone/>
                      </a:pPr>
                      <a:r>
                        <a:rPr lang="en-US" sz="1400" b="1" dirty="0">
                          <a:solidFill>
                            <a:schemeClr val="tx2"/>
                          </a:solidFill>
                        </a:rPr>
                        <a:t>No</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rgbClr val="D4E3F8"/>
                    </a:solidFill>
                  </a:tcPr>
                </a:tc>
                <a:tc>
                  <a:txBody>
                    <a:bodyPr/>
                    <a:lstStyle/>
                    <a:p>
                      <a:pPr marL="0" indent="0">
                        <a:buNone/>
                      </a:pPr>
                      <a:r>
                        <a:rPr lang="en-US" sz="1400" b="1" dirty="0">
                          <a:solidFill>
                            <a:schemeClr val="tx2"/>
                          </a:solidFill>
                        </a:rPr>
                        <a:t>Yes: two FIFOs</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rgbClr val="D4E3F8"/>
                    </a:solidFill>
                  </a:tcPr>
                </a:tc>
              </a:tr>
            </a:tbl>
          </a:graphicData>
        </a:graphic>
      </p:graphicFrame>
      <p:sp>
        <p:nvSpPr>
          <p:cNvPr id="25" name="Slide Number Placeholder 0"/>
          <p:cNvSpPr>
            <a:spLocks noGrp="1"/>
          </p:cNvSpPr>
          <p:nvPr>
            <p:ph type="sldNum" sz="quarter" idx="4294967295"/>
          </p:nvPr>
        </p:nvSpPr>
        <p:spPr>
          <a:xfrm>
            <a:off x="10972800" y="6382512"/>
            <a:ext cx="667512" cy="274320"/>
          </a:xfrm>
          <a:prstGeom prst="rect">
            <a:avLst/>
          </a:prstGeom>
        </p:spPr>
        <p:txBody>
          <a:bodyPr/>
          <a:lstStyle>
            <a:lvl1pPr>
              <a:defRPr sz="1000">
                <a:solidFill>
                  <a:schemeClr val="accent5"/>
                </a:solidFill>
              </a:defRPr>
            </a:lvl1pPr>
          </a:lstStyle>
          <a:p>
            <a:pPr algn="r"/>
            <a:fld id="{F7021451-1387-4CA6-816F-3879F97B5CBC}" type="slidenum">
              <a:rPr lang="en-US" b="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548640" y="320040"/>
            <a:ext cx="11091672" cy="777240"/>
          </a:xfrm>
          <a:prstGeom prst="rect">
            <a:avLst/>
          </a:prstGeom>
          <a:noFill/>
        </p:spPr>
        <p:txBody>
          <a:bodyPr wrap="square" lIns="0" tIns="0" rIns="0" bIns="0" rtlCol="0" anchor="ctr"/>
          <a:lstStyle/>
          <a:p>
            <a:pPr marL="0" indent="0" algn="l">
              <a:buNone/>
            </a:pPr>
            <a:r>
              <a:rPr lang="en-US" sz="3200" b="1" dirty="0">
                <a:solidFill>
                  <a:schemeClr val="tx2"/>
                </a:solidFill>
              </a:rPr>
              <a:t>System Architecture</a:t>
            </a:r>
            <a:endParaRPr lang="en-US" sz="3200" dirty="0"/>
          </a:p>
        </p:txBody>
      </p:sp>
      <p:sp>
        <p:nvSpPr>
          <p:cNvPr id="3" name="User space panel A"/>
          <p:cNvSpPr/>
          <p:nvPr/>
        </p:nvSpPr>
        <p:spPr>
          <a:xfrm>
            <a:off x="548640" y="1280160"/>
            <a:ext cx="3017520" cy="4297680"/>
          </a:xfrm>
          <a:prstGeom prst="roundRect">
            <a:avLst>
              <a:gd name="adj" fmla="val 3030"/>
            </a:avLst>
          </a:prstGeom>
          <a:solidFill>
            <a:schemeClr val="bg2"/>
          </a:solidFill>
        </p:spPr>
      </p:sp>
      <p:sp>
        <p:nvSpPr>
          <p:cNvPr id="4" name="User space panel B"/>
          <p:cNvSpPr/>
          <p:nvPr/>
        </p:nvSpPr>
        <p:spPr>
          <a:xfrm>
            <a:off x="8595360" y="1280160"/>
            <a:ext cx="3017520" cy="4297680"/>
          </a:xfrm>
          <a:prstGeom prst="roundRect">
            <a:avLst>
              <a:gd name="adj" fmla="val 3030"/>
            </a:avLst>
          </a:prstGeom>
          <a:solidFill>
            <a:schemeClr val="bg2"/>
          </a:solidFill>
        </p:spPr>
      </p:sp>
      <p:sp>
        <p:nvSpPr>
          <p:cNvPr id="5" name="Kernel panel"/>
          <p:cNvSpPr/>
          <p:nvPr/>
        </p:nvSpPr>
        <p:spPr>
          <a:xfrm>
            <a:off x="4480560" y="1280160"/>
            <a:ext cx="3200400" cy="4297680"/>
          </a:xfrm>
          <a:prstGeom prst="roundRect">
            <a:avLst>
              <a:gd name="adj" fmla="val 2857"/>
            </a:avLst>
          </a:prstGeom>
          <a:solidFill>
            <a:schemeClr val="accent6"/>
          </a:solidFill>
        </p:spPr>
      </p:sp>
      <p:sp>
        <p:nvSpPr>
          <p:cNvPr id="6" name="Text 4"/>
          <p:cNvSpPr txBox="1"/>
          <p:nvPr/>
        </p:nvSpPr>
        <p:spPr>
          <a:xfrm>
            <a:off x="548640" y="1371600"/>
            <a:ext cx="3017520" cy="594360"/>
          </a:xfrm>
          <a:prstGeom prst="rect">
            <a:avLst/>
          </a:prstGeom>
          <a:noFill/>
        </p:spPr>
        <p:txBody>
          <a:bodyPr wrap="square" lIns="0" tIns="0" rIns="0" bIns="0" rtlCol="0" anchor="t"/>
          <a:lstStyle/>
          <a:p>
            <a:pPr marL="0" indent="0" algn="ctr">
              <a:buNone/>
            </a:pPr>
            <a:r>
              <a:rPr lang="en-US" sz="1400" b="1" dirty="0">
                <a:solidFill>
                  <a:schemeClr val="tx2"/>
                </a:solidFill>
              </a:rPr>
              <a:t>USER SPACE</a:t>
            </a:r>
            <a:endParaRPr lang="en-US" sz="1400" dirty="0"/>
          </a:p>
          <a:p>
            <a:pPr marL="0" indent="0" algn="ctr">
              <a:buNone/>
            </a:pPr>
            <a:r>
              <a:rPr lang="en-US" sz="1400" b="1" dirty="0">
                <a:solidFill>
                  <a:schemeClr val="tx2"/>
                </a:solidFill>
              </a:rPr>
              <a:t>Process A</a:t>
            </a:r>
            <a:endParaRPr lang="en-US" sz="1400" dirty="0"/>
          </a:p>
        </p:txBody>
      </p:sp>
      <p:sp>
        <p:nvSpPr>
          <p:cNvPr id="7" name="Text 5"/>
          <p:cNvSpPr txBox="1"/>
          <p:nvPr/>
        </p:nvSpPr>
        <p:spPr>
          <a:xfrm>
            <a:off x="8595360" y="1371600"/>
            <a:ext cx="3017520" cy="594360"/>
          </a:xfrm>
          <a:prstGeom prst="rect">
            <a:avLst/>
          </a:prstGeom>
          <a:noFill/>
        </p:spPr>
        <p:txBody>
          <a:bodyPr wrap="square" lIns="0" tIns="0" rIns="0" bIns="0" rtlCol="0" anchor="t"/>
          <a:lstStyle/>
          <a:p>
            <a:pPr marL="0" indent="0" algn="ctr">
              <a:buNone/>
            </a:pPr>
            <a:r>
              <a:rPr lang="en-US" sz="1400" b="1" dirty="0">
                <a:solidFill>
                  <a:schemeClr val="tx2"/>
                </a:solidFill>
              </a:rPr>
              <a:t>USER SPACE</a:t>
            </a:r>
            <a:endParaRPr lang="en-US" sz="1400" dirty="0"/>
          </a:p>
          <a:p>
            <a:pPr marL="0" indent="0" algn="ctr">
              <a:buNone/>
            </a:pPr>
            <a:r>
              <a:rPr lang="en-US" sz="1400" b="1" dirty="0">
                <a:solidFill>
                  <a:schemeClr val="tx2"/>
                </a:solidFill>
              </a:rPr>
              <a:t>Process B</a:t>
            </a:r>
            <a:endParaRPr lang="en-US" sz="1400" dirty="0"/>
          </a:p>
        </p:txBody>
      </p:sp>
      <p:sp>
        <p:nvSpPr>
          <p:cNvPr id="8" name="Text 6"/>
          <p:cNvSpPr txBox="1"/>
          <p:nvPr/>
        </p:nvSpPr>
        <p:spPr>
          <a:xfrm>
            <a:off x="4480560" y="1371600"/>
            <a:ext cx="3200400" cy="594360"/>
          </a:xfrm>
          <a:prstGeom prst="rect">
            <a:avLst/>
          </a:prstGeom>
          <a:noFill/>
        </p:spPr>
        <p:txBody>
          <a:bodyPr wrap="square" lIns="0" tIns="0" rIns="0" bIns="0" rtlCol="0" anchor="t"/>
          <a:lstStyle/>
          <a:p>
            <a:pPr marL="0" indent="0" algn="ctr">
              <a:buNone/>
            </a:pPr>
            <a:r>
              <a:rPr lang="en-US" sz="1400" b="1" dirty="0">
                <a:solidFill>
                  <a:schemeClr val="bg1"/>
                </a:solidFill>
              </a:rPr>
              <a:t>KERNEL SPACE</a:t>
            </a:r>
            <a:endParaRPr lang="en-US" sz="1400" dirty="0"/>
          </a:p>
          <a:p>
            <a:pPr marL="0" indent="0" algn="ctr">
              <a:buNone/>
            </a:pPr>
            <a:r>
              <a:rPr lang="en-US" sz="1400" b="1" dirty="0">
                <a:solidFill>
                  <a:schemeClr val="bg1"/>
                </a:solidFill>
              </a:rPr>
              <a:t>Linux kernel</a:t>
            </a:r>
            <a:endParaRPr lang="en-US" sz="1400" dirty="0"/>
          </a:p>
        </p:txBody>
      </p:sp>
      <p:sp>
        <p:nvSpPr>
          <p:cNvPr id="9" name="Process A chip stdin / stdout (terminal)"/>
          <p:cNvSpPr/>
          <p:nvPr/>
        </p:nvSpPr>
        <p:spPr>
          <a:xfrm>
            <a:off x="731520" y="2148840"/>
            <a:ext cx="2651760" cy="640080"/>
          </a:xfrm>
          <a:prstGeom prst="roundRect">
            <a:avLst>
              <a:gd name="adj" fmla="val 14286"/>
            </a:avLst>
          </a:prstGeom>
          <a:solidFill>
            <a:schemeClr val="bg1"/>
          </a:solidFill>
        </p:spPr>
      </p:sp>
      <p:sp>
        <p:nvSpPr>
          <p:cNvPr id="10" name="Text 8"/>
          <p:cNvSpPr txBox="1"/>
          <p:nvPr/>
        </p:nvSpPr>
        <p:spPr>
          <a:xfrm>
            <a:off x="731520" y="2148840"/>
            <a:ext cx="2651760" cy="640080"/>
          </a:xfrm>
          <a:prstGeom prst="rect">
            <a:avLst/>
          </a:prstGeom>
          <a:noFill/>
        </p:spPr>
        <p:txBody>
          <a:bodyPr wrap="square" lIns="0" tIns="0" rIns="0" bIns="0" rtlCol="0" anchor="ctr"/>
          <a:lstStyle/>
          <a:p>
            <a:pPr marL="0" indent="0" algn="ctr">
              <a:buNone/>
            </a:pPr>
            <a:r>
              <a:rPr lang="en-US" sz="1400" dirty="0">
                <a:solidFill>
                  <a:schemeClr val="tx1"/>
                </a:solidFill>
              </a:rPr>
              <a:t>stdin / stdout (terminal)</a:t>
            </a:r>
            <a:endParaRPr lang="en-US" sz="1400" dirty="0"/>
          </a:p>
        </p:txBody>
      </p:sp>
      <p:sp>
        <p:nvSpPr>
          <p:cNvPr id="11" name="Process A chip select() event loop"/>
          <p:cNvSpPr/>
          <p:nvPr/>
        </p:nvSpPr>
        <p:spPr>
          <a:xfrm>
            <a:off x="731520" y="2971800"/>
            <a:ext cx="2651760" cy="640080"/>
          </a:xfrm>
          <a:prstGeom prst="roundRect">
            <a:avLst>
              <a:gd name="adj" fmla="val 14286"/>
            </a:avLst>
          </a:prstGeom>
          <a:solidFill>
            <a:schemeClr val="bg1"/>
          </a:solidFill>
        </p:spPr>
      </p:sp>
      <p:sp>
        <p:nvSpPr>
          <p:cNvPr id="12" name="Text 10"/>
          <p:cNvSpPr txBox="1"/>
          <p:nvPr/>
        </p:nvSpPr>
        <p:spPr>
          <a:xfrm>
            <a:off x="731520" y="2971800"/>
            <a:ext cx="2651760" cy="640080"/>
          </a:xfrm>
          <a:prstGeom prst="rect">
            <a:avLst/>
          </a:prstGeom>
          <a:noFill/>
        </p:spPr>
        <p:txBody>
          <a:bodyPr wrap="square" lIns="0" tIns="0" rIns="0" bIns="0" rtlCol="0" anchor="ctr"/>
          <a:lstStyle/>
          <a:p>
            <a:pPr marL="0" indent="0" algn="ctr">
              <a:buNone/>
            </a:pPr>
            <a:r>
              <a:rPr lang="en-US" sz="1400" dirty="0">
                <a:solidFill>
                  <a:schemeClr val="tx1"/>
                </a:solidFill>
              </a:rPr>
              <a:t>select() event loop</a:t>
            </a:r>
            <a:endParaRPr lang="en-US" sz="1400" dirty="0"/>
          </a:p>
        </p:txBody>
      </p:sp>
      <p:sp>
        <p:nvSpPr>
          <p:cNvPr id="13" name="Process A chip Signal handlers"/>
          <p:cNvSpPr/>
          <p:nvPr/>
        </p:nvSpPr>
        <p:spPr>
          <a:xfrm>
            <a:off x="731520" y="3794760"/>
            <a:ext cx="2651760" cy="640080"/>
          </a:xfrm>
          <a:prstGeom prst="roundRect">
            <a:avLst>
              <a:gd name="adj" fmla="val 14286"/>
            </a:avLst>
          </a:prstGeom>
          <a:solidFill>
            <a:schemeClr val="bg1"/>
          </a:solidFill>
        </p:spPr>
      </p:sp>
      <p:sp>
        <p:nvSpPr>
          <p:cNvPr id="14" name="Text 12"/>
          <p:cNvSpPr txBox="1"/>
          <p:nvPr/>
        </p:nvSpPr>
        <p:spPr>
          <a:xfrm>
            <a:off x="731520" y="3794760"/>
            <a:ext cx="2651760" cy="640080"/>
          </a:xfrm>
          <a:prstGeom prst="rect">
            <a:avLst/>
          </a:prstGeom>
          <a:noFill/>
        </p:spPr>
        <p:txBody>
          <a:bodyPr wrap="square" lIns="0" tIns="0" rIns="0" bIns="0" rtlCol="0" anchor="ctr"/>
          <a:lstStyle/>
          <a:p>
            <a:pPr marL="0" indent="0" algn="ctr">
              <a:buNone/>
            </a:pPr>
            <a:r>
              <a:rPr lang="en-US" sz="1400" dirty="0">
                <a:solidFill>
                  <a:schemeClr val="tx1"/>
                </a:solidFill>
              </a:rPr>
              <a:t>Signal handlers</a:t>
            </a:r>
            <a:endParaRPr lang="en-US" sz="1400" dirty="0"/>
          </a:p>
        </p:txBody>
      </p:sp>
      <p:sp>
        <p:nvSpPr>
          <p:cNvPr id="15" name="Process A chip Fixed-size buffer"/>
          <p:cNvSpPr/>
          <p:nvPr/>
        </p:nvSpPr>
        <p:spPr>
          <a:xfrm>
            <a:off x="731520" y="4617720"/>
            <a:ext cx="2651760" cy="640080"/>
          </a:xfrm>
          <a:prstGeom prst="roundRect">
            <a:avLst>
              <a:gd name="adj" fmla="val 14286"/>
            </a:avLst>
          </a:prstGeom>
          <a:solidFill>
            <a:schemeClr val="bg1"/>
          </a:solidFill>
        </p:spPr>
      </p:sp>
      <p:sp>
        <p:nvSpPr>
          <p:cNvPr id="16" name="Text 14"/>
          <p:cNvSpPr txBox="1"/>
          <p:nvPr/>
        </p:nvSpPr>
        <p:spPr>
          <a:xfrm>
            <a:off x="731520" y="4617720"/>
            <a:ext cx="2651760" cy="640080"/>
          </a:xfrm>
          <a:prstGeom prst="rect">
            <a:avLst/>
          </a:prstGeom>
          <a:noFill/>
        </p:spPr>
        <p:txBody>
          <a:bodyPr wrap="square" lIns="0" tIns="0" rIns="0" bIns="0" rtlCol="0" anchor="ctr"/>
          <a:lstStyle/>
          <a:p>
            <a:pPr marL="0" indent="0" algn="ctr">
              <a:buNone/>
            </a:pPr>
            <a:r>
              <a:rPr lang="en-US" sz="1400" dirty="0">
                <a:solidFill>
                  <a:schemeClr val="tx1"/>
                </a:solidFill>
              </a:rPr>
              <a:t>Fixed-size buffer</a:t>
            </a:r>
            <a:endParaRPr lang="en-US" sz="1400" dirty="0"/>
          </a:p>
        </p:txBody>
      </p:sp>
      <p:sp>
        <p:nvSpPr>
          <p:cNvPr id="17" name="Process B chip stdin / stdout (terminal)"/>
          <p:cNvSpPr/>
          <p:nvPr/>
        </p:nvSpPr>
        <p:spPr>
          <a:xfrm>
            <a:off x="8778240" y="2148840"/>
            <a:ext cx="2651760" cy="640080"/>
          </a:xfrm>
          <a:prstGeom prst="roundRect">
            <a:avLst>
              <a:gd name="adj" fmla="val 14286"/>
            </a:avLst>
          </a:prstGeom>
          <a:solidFill>
            <a:schemeClr val="bg1"/>
          </a:solidFill>
        </p:spPr>
      </p:sp>
      <p:sp>
        <p:nvSpPr>
          <p:cNvPr id="18" name="Text 16"/>
          <p:cNvSpPr txBox="1"/>
          <p:nvPr/>
        </p:nvSpPr>
        <p:spPr>
          <a:xfrm>
            <a:off x="8778240" y="2148840"/>
            <a:ext cx="2651760" cy="640080"/>
          </a:xfrm>
          <a:prstGeom prst="rect">
            <a:avLst/>
          </a:prstGeom>
          <a:noFill/>
        </p:spPr>
        <p:txBody>
          <a:bodyPr wrap="square" lIns="0" tIns="0" rIns="0" bIns="0" rtlCol="0" anchor="ctr"/>
          <a:lstStyle/>
          <a:p>
            <a:pPr marL="0" indent="0" algn="ctr">
              <a:buNone/>
            </a:pPr>
            <a:r>
              <a:rPr lang="en-US" sz="1400" dirty="0">
                <a:solidFill>
                  <a:schemeClr val="tx1"/>
                </a:solidFill>
              </a:rPr>
              <a:t>stdin / stdout (terminal)</a:t>
            </a:r>
            <a:endParaRPr lang="en-US" sz="1400" dirty="0"/>
          </a:p>
        </p:txBody>
      </p:sp>
      <p:sp>
        <p:nvSpPr>
          <p:cNvPr id="19" name="Process B chip select() event loop"/>
          <p:cNvSpPr/>
          <p:nvPr/>
        </p:nvSpPr>
        <p:spPr>
          <a:xfrm>
            <a:off x="8778240" y="2971800"/>
            <a:ext cx="2651760" cy="640080"/>
          </a:xfrm>
          <a:prstGeom prst="roundRect">
            <a:avLst>
              <a:gd name="adj" fmla="val 14286"/>
            </a:avLst>
          </a:prstGeom>
          <a:solidFill>
            <a:schemeClr val="bg1"/>
          </a:solidFill>
        </p:spPr>
      </p:sp>
      <p:sp>
        <p:nvSpPr>
          <p:cNvPr id="20" name="Text 18"/>
          <p:cNvSpPr txBox="1"/>
          <p:nvPr/>
        </p:nvSpPr>
        <p:spPr>
          <a:xfrm>
            <a:off x="8778240" y="2971800"/>
            <a:ext cx="2651760" cy="640080"/>
          </a:xfrm>
          <a:prstGeom prst="rect">
            <a:avLst/>
          </a:prstGeom>
          <a:noFill/>
        </p:spPr>
        <p:txBody>
          <a:bodyPr wrap="square" lIns="0" tIns="0" rIns="0" bIns="0" rtlCol="0" anchor="ctr"/>
          <a:lstStyle/>
          <a:p>
            <a:pPr marL="0" indent="0" algn="ctr">
              <a:buNone/>
            </a:pPr>
            <a:r>
              <a:rPr lang="en-US" sz="1400" dirty="0">
                <a:solidFill>
                  <a:schemeClr val="tx1"/>
                </a:solidFill>
              </a:rPr>
              <a:t>select() event loop</a:t>
            </a:r>
            <a:endParaRPr lang="en-US" sz="1400" dirty="0"/>
          </a:p>
        </p:txBody>
      </p:sp>
      <p:sp>
        <p:nvSpPr>
          <p:cNvPr id="21" name="Process B chip Signal handlers"/>
          <p:cNvSpPr/>
          <p:nvPr/>
        </p:nvSpPr>
        <p:spPr>
          <a:xfrm>
            <a:off x="8778240" y="3794760"/>
            <a:ext cx="2651760" cy="640080"/>
          </a:xfrm>
          <a:prstGeom prst="roundRect">
            <a:avLst>
              <a:gd name="adj" fmla="val 14286"/>
            </a:avLst>
          </a:prstGeom>
          <a:solidFill>
            <a:schemeClr val="bg1"/>
          </a:solidFill>
        </p:spPr>
      </p:sp>
      <p:sp>
        <p:nvSpPr>
          <p:cNvPr id="22" name="Text 20"/>
          <p:cNvSpPr txBox="1"/>
          <p:nvPr/>
        </p:nvSpPr>
        <p:spPr>
          <a:xfrm>
            <a:off x="8778240" y="3794760"/>
            <a:ext cx="2651760" cy="640080"/>
          </a:xfrm>
          <a:prstGeom prst="rect">
            <a:avLst/>
          </a:prstGeom>
          <a:noFill/>
        </p:spPr>
        <p:txBody>
          <a:bodyPr wrap="square" lIns="0" tIns="0" rIns="0" bIns="0" rtlCol="0" anchor="ctr"/>
          <a:lstStyle/>
          <a:p>
            <a:pPr marL="0" indent="0" algn="ctr">
              <a:buNone/>
            </a:pPr>
            <a:r>
              <a:rPr lang="en-US" sz="1400" dirty="0">
                <a:solidFill>
                  <a:schemeClr val="tx1"/>
                </a:solidFill>
              </a:rPr>
              <a:t>Signal handlers</a:t>
            </a:r>
            <a:endParaRPr lang="en-US" sz="1400" dirty="0"/>
          </a:p>
        </p:txBody>
      </p:sp>
      <p:sp>
        <p:nvSpPr>
          <p:cNvPr id="23" name="Process B chip Fixed-size buffer"/>
          <p:cNvSpPr/>
          <p:nvPr/>
        </p:nvSpPr>
        <p:spPr>
          <a:xfrm>
            <a:off x="8778240" y="4617720"/>
            <a:ext cx="2651760" cy="640080"/>
          </a:xfrm>
          <a:prstGeom prst="roundRect">
            <a:avLst>
              <a:gd name="adj" fmla="val 14286"/>
            </a:avLst>
          </a:prstGeom>
          <a:solidFill>
            <a:schemeClr val="bg1"/>
          </a:solidFill>
        </p:spPr>
      </p:sp>
      <p:sp>
        <p:nvSpPr>
          <p:cNvPr id="24" name="Text 22"/>
          <p:cNvSpPr txBox="1"/>
          <p:nvPr/>
        </p:nvSpPr>
        <p:spPr>
          <a:xfrm>
            <a:off x="8778240" y="4617720"/>
            <a:ext cx="2651760" cy="640080"/>
          </a:xfrm>
          <a:prstGeom prst="rect">
            <a:avLst/>
          </a:prstGeom>
          <a:noFill/>
        </p:spPr>
        <p:txBody>
          <a:bodyPr wrap="square" lIns="0" tIns="0" rIns="0" bIns="0" rtlCol="0" anchor="ctr"/>
          <a:lstStyle/>
          <a:p>
            <a:pPr marL="0" indent="0" algn="ctr">
              <a:buNone/>
            </a:pPr>
            <a:r>
              <a:rPr lang="en-US" sz="1400" dirty="0">
                <a:solidFill>
                  <a:schemeClr val="tx1"/>
                </a:solidFill>
              </a:rPr>
              <a:t>Fixed-size buffer</a:t>
            </a:r>
            <a:endParaRPr lang="en-US" sz="1400" dirty="0"/>
          </a:p>
        </p:txBody>
      </p:sp>
      <p:sp>
        <p:nvSpPr>
          <p:cNvPr id="25" name="FIFO A→B"/>
          <p:cNvSpPr/>
          <p:nvPr/>
        </p:nvSpPr>
        <p:spPr>
          <a:xfrm>
            <a:off x="4754880" y="2194560"/>
            <a:ext cx="2651760" cy="1097280"/>
          </a:xfrm>
          <a:prstGeom prst="roundRect">
            <a:avLst>
              <a:gd name="adj" fmla="val 8333"/>
            </a:avLst>
          </a:prstGeom>
          <a:solidFill>
            <a:schemeClr val="accent1"/>
          </a:solidFill>
        </p:spPr>
      </p:sp>
      <p:sp>
        <p:nvSpPr>
          <p:cNvPr id="26" name="Text 24"/>
          <p:cNvSpPr txBox="1"/>
          <p:nvPr/>
        </p:nvSpPr>
        <p:spPr>
          <a:xfrm>
            <a:off x="4754880" y="2194560"/>
            <a:ext cx="2651760" cy="1097280"/>
          </a:xfrm>
          <a:prstGeom prst="rect">
            <a:avLst/>
          </a:prstGeom>
          <a:noFill/>
        </p:spPr>
        <p:txBody>
          <a:bodyPr wrap="square" lIns="0" tIns="0" rIns="0" bIns="0" rtlCol="0" anchor="ctr"/>
          <a:lstStyle/>
          <a:p>
            <a:pPr marL="0" indent="0" algn="ctr">
              <a:buNone/>
            </a:pPr>
            <a:r>
              <a:rPr lang="en-US" sz="1800" b="1" dirty="0">
                <a:solidFill>
                  <a:schemeClr val="bg1"/>
                </a:solidFill>
              </a:rPr>
              <a:t>FIFO A→B</a:t>
            </a:r>
            <a:endParaRPr lang="en-US" sz="1400" dirty="0"/>
          </a:p>
          <a:p>
            <a:pPr marL="0" indent="0" algn="ctr">
              <a:buNone/>
            </a:pPr>
            <a:r>
              <a:rPr lang="en-US" sz="1200" dirty="0">
                <a:solidFill>
                  <a:schemeClr val="bg2"/>
                </a:solidFill>
              </a:rPr>
              <a:t>writer: A   reader: B</a:t>
            </a:r>
            <a:endParaRPr lang="en-US" sz="1400" dirty="0"/>
          </a:p>
        </p:txBody>
      </p:sp>
      <p:sp>
        <p:nvSpPr>
          <p:cNvPr id="27" name="FIFO B→A"/>
          <p:cNvSpPr/>
          <p:nvPr/>
        </p:nvSpPr>
        <p:spPr>
          <a:xfrm>
            <a:off x="4754880" y="3657600"/>
            <a:ext cx="2651760" cy="1097280"/>
          </a:xfrm>
          <a:prstGeom prst="roundRect">
            <a:avLst>
              <a:gd name="adj" fmla="val 8333"/>
            </a:avLst>
          </a:prstGeom>
          <a:solidFill>
            <a:schemeClr val="accent1"/>
          </a:solidFill>
        </p:spPr>
      </p:sp>
      <p:sp>
        <p:nvSpPr>
          <p:cNvPr id="28" name="Text 26"/>
          <p:cNvSpPr txBox="1"/>
          <p:nvPr/>
        </p:nvSpPr>
        <p:spPr>
          <a:xfrm>
            <a:off x="4754880" y="3657600"/>
            <a:ext cx="2651760" cy="1097280"/>
          </a:xfrm>
          <a:prstGeom prst="rect">
            <a:avLst/>
          </a:prstGeom>
          <a:noFill/>
        </p:spPr>
        <p:txBody>
          <a:bodyPr wrap="square" lIns="0" tIns="0" rIns="0" bIns="0" rtlCol="0" anchor="ctr"/>
          <a:lstStyle/>
          <a:p>
            <a:pPr marL="0" indent="0" algn="ctr">
              <a:buNone/>
            </a:pPr>
            <a:r>
              <a:rPr lang="en-US" sz="1800" b="1" dirty="0">
                <a:solidFill>
                  <a:schemeClr val="bg1"/>
                </a:solidFill>
              </a:rPr>
              <a:t>FIFO B→A</a:t>
            </a:r>
            <a:endParaRPr lang="en-US" sz="1400" dirty="0"/>
          </a:p>
          <a:p>
            <a:pPr marL="0" indent="0" algn="ctr">
              <a:buNone/>
            </a:pPr>
            <a:r>
              <a:rPr lang="en-US" sz="1200" dirty="0">
                <a:solidFill>
                  <a:schemeClr val="bg2"/>
                </a:solidFill>
              </a:rPr>
              <a:t>writer: B   reader: A</a:t>
            </a:r>
            <a:endParaRPr lang="en-US" sz="1400" dirty="0"/>
          </a:p>
        </p:txBody>
      </p:sp>
      <p:sp>
        <p:nvSpPr>
          <p:cNvPr id="29" name="Text 27"/>
          <p:cNvSpPr txBox="1"/>
          <p:nvPr/>
        </p:nvSpPr>
        <p:spPr>
          <a:xfrm>
            <a:off x="4617720" y="4937760"/>
            <a:ext cx="2926080" cy="502920"/>
          </a:xfrm>
          <a:prstGeom prst="rect">
            <a:avLst/>
          </a:prstGeom>
          <a:noFill/>
        </p:spPr>
        <p:txBody>
          <a:bodyPr wrap="square" lIns="0" tIns="0" rIns="0" bIns="0" rtlCol="0" anchor="t"/>
          <a:lstStyle/>
          <a:p>
            <a:pPr marL="0" indent="0" algn="ctr">
              <a:buNone/>
            </a:pPr>
            <a:r>
              <a:rPr lang="en-US" sz="1200" dirty="0">
                <a:solidFill>
                  <a:schemeClr val="bg2"/>
                </a:solidFill>
              </a:rPr>
              <a:t>Bytes are buffered in the kernel; no disk transfer</a:t>
            </a:r>
            <a:endParaRPr lang="en-US" sz="1200" dirty="0"/>
          </a:p>
        </p:txBody>
      </p:sp>
      <p:sp>
        <p:nvSpPr>
          <p:cNvPr id="30" name="Shape 28"/>
          <p:cNvSpPr/>
          <p:nvPr/>
        </p:nvSpPr>
        <p:spPr>
          <a:xfrm>
            <a:off x="3566160" y="2743200"/>
            <a:ext cx="1188720" cy="0"/>
          </a:xfrm>
          <a:prstGeom prst="line">
            <a:avLst/>
          </a:prstGeom>
          <a:noFill/>
          <a:ln w="31750">
            <a:solidFill>
              <a:schemeClr val="accent2"/>
            </a:solidFill>
            <a:prstDash val="solid"/>
            <a:tailEnd type="triangle"/>
          </a:ln>
        </p:spPr>
      </p:sp>
      <p:sp>
        <p:nvSpPr>
          <p:cNvPr id="31" name="Shape 29"/>
          <p:cNvSpPr/>
          <p:nvPr/>
        </p:nvSpPr>
        <p:spPr>
          <a:xfrm>
            <a:off x="7406640" y="2743200"/>
            <a:ext cx="1188720" cy="0"/>
          </a:xfrm>
          <a:prstGeom prst="line">
            <a:avLst/>
          </a:prstGeom>
          <a:noFill/>
          <a:ln w="31750">
            <a:solidFill>
              <a:schemeClr val="accent2"/>
            </a:solidFill>
            <a:prstDash val="solid"/>
            <a:tailEnd type="triangle"/>
          </a:ln>
        </p:spPr>
      </p:sp>
      <p:sp>
        <p:nvSpPr>
          <p:cNvPr id="32" name="Shape 30"/>
          <p:cNvSpPr/>
          <p:nvPr/>
        </p:nvSpPr>
        <p:spPr>
          <a:xfrm flipH="1">
            <a:off x="7406640" y="4206240"/>
            <a:ext cx="1188720" cy="0"/>
          </a:xfrm>
          <a:prstGeom prst="line">
            <a:avLst/>
          </a:prstGeom>
          <a:noFill/>
          <a:ln w="31750">
            <a:solidFill>
              <a:schemeClr val="accent2"/>
            </a:solidFill>
            <a:prstDash val="solid"/>
            <a:tailEnd type="triangle"/>
          </a:ln>
        </p:spPr>
      </p:sp>
      <p:sp>
        <p:nvSpPr>
          <p:cNvPr id="33" name="Shape 31"/>
          <p:cNvSpPr/>
          <p:nvPr/>
        </p:nvSpPr>
        <p:spPr>
          <a:xfrm flipH="1">
            <a:off x="3566160" y="4206240"/>
            <a:ext cx="1188720" cy="0"/>
          </a:xfrm>
          <a:prstGeom prst="line">
            <a:avLst/>
          </a:prstGeom>
          <a:noFill/>
          <a:ln w="31750">
            <a:solidFill>
              <a:schemeClr val="accent2"/>
            </a:solidFill>
            <a:prstDash val="solid"/>
            <a:tailEnd type="triangle"/>
          </a:ln>
        </p:spPr>
      </p:sp>
      <p:sp>
        <p:nvSpPr>
          <p:cNvPr id="34" name="Text 32"/>
          <p:cNvSpPr txBox="1"/>
          <p:nvPr/>
        </p:nvSpPr>
        <p:spPr>
          <a:xfrm>
            <a:off x="3566160" y="2423160"/>
            <a:ext cx="914400" cy="274320"/>
          </a:xfrm>
          <a:prstGeom prst="rect">
            <a:avLst/>
          </a:prstGeom>
          <a:noFill/>
        </p:spPr>
        <p:txBody>
          <a:bodyPr wrap="square" lIns="0" tIns="0" rIns="0" bIns="0" rtlCol="0" anchor="t"/>
          <a:lstStyle/>
          <a:p>
            <a:pPr marL="0" indent="0" algn="ctr">
              <a:buNone/>
            </a:pPr>
            <a:r>
              <a:rPr lang="en-US" sz="1200" b="1" dirty="0">
                <a:solidFill>
                  <a:schemeClr val="accent1"/>
                </a:solidFill>
              </a:rPr>
              <a:t>write()</a:t>
            </a:r>
            <a:endParaRPr lang="en-US" sz="1200" dirty="0"/>
          </a:p>
        </p:txBody>
      </p:sp>
      <p:sp>
        <p:nvSpPr>
          <p:cNvPr id="35" name="Text 33"/>
          <p:cNvSpPr txBox="1"/>
          <p:nvPr/>
        </p:nvSpPr>
        <p:spPr>
          <a:xfrm>
            <a:off x="7680960" y="2423160"/>
            <a:ext cx="914400" cy="274320"/>
          </a:xfrm>
          <a:prstGeom prst="rect">
            <a:avLst/>
          </a:prstGeom>
          <a:noFill/>
        </p:spPr>
        <p:txBody>
          <a:bodyPr wrap="square" lIns="0" tIns="0" rIns="0" bIns="0" rtlCol="0" anchor="t"/>
          <a:lstStyle/>
          <a:p>
            <a:pPr marL="0" indent="0" algn="ctr">
              <a:buNone/>
            </a:pPr>
            <a:r>
              <a:rPr lang="en-US" sz="1200" b="1" dirty="0">
                <a:solidFill>
                  <a:schemeClr val="accent1"/>
                </a:solidFill>
              </a:rPr>
              <a:t>read()</a:t>
            </a:r>
            <a:endParaRPr lang="en-US" sz="1200" dirty="0"/>
          </a:p>
        </p:txBody>
      </p:sp>
      <p:sp>
        <p:nvSpPr>
          <p:cNvPr id="36" name="Text 34"/>
          <p:cNvSpPr txBox="1"/>
          <p:nvPr/>
        </p:nvSpPr>
        <p:spPr>
          <a:xfrm>
            <a:off x="7680960" y="3886200"/>
            <a:ext cx="914400" cy="274320"/>
          </a:xfrm>
          <a:prstGeom prst="rect">
            <a:avLst/>
          </a:prstGeom>
          <a:noFill/>
        </p:spPr>
        <p:txBody>
          <a:bodyPr wrap="square" lIns="0" tIns="0" rIns="0" bIns="0" rtlCol="0" anchor="t"/>
          <a:lstStyle/>
          <a:p>
            <a:pPr marL="0" indent="0" algn="ctr">
              <a:buNone/>
            </a:pPr>
            <a:r>
              <a:rPr lang="en-US" sz="1200" b="1" dirty="0">
                <a:solidFill>
                  <a:schemeClr val="accent1"/>
                </a:solidFill>
              </a:rPr>
              <a:t>write()</a:t>
            </a:r>
            <a:endParaRPr lang="en-US" sz="1200" dirty="0"/>
          </a:p>
        </p:txBody>
      </p:sp>
      <p:sp>
        <p:nvSpPr>
          <p:cNvPr id="37" name="Text 35"/>
          <p:cNvSpPr txBox="1"/>
          <p:nvPr/>
        </p:nvSpPr>
        <p:spPr>
          <a:xfrm>
            <a:off x="3566160" y="3886200"/>
            <a:ext cx="914400" cy="274320"/>
          </a:xfrm>
          <a:prstGeom prst="rect">
            <a:avLst/>
          </a:prstGeom>
          <a:noFill/>
        </p:spPr>
        <p:txBody>
          <a:bodyPr wrap="square" lIns="0" tIns="0" rIns="0" bIns="0" rtlCol="0" anchor="t"/>
          <a:lstStyle/>
          <a:p>
            <a:pPr marL="0" indent="0" algn="ctr">
              <a:buNone/>
            </a:pPr>
            <a:r>
              <a:rPr lang="en-US" sz="1200" b="1" dirty="0">
                <a:solidFill>
                  <a:schemeClr val="accent1"/>
                </a:solidFill>
              </a:rPr>
              <a:t>read()</a:t>
            </a:r>
            <a:endParaRPr lang="en-US" sz="1200" dirty="0"/>
          </a:p>
        </p:txBody>
      </p:sp>
      <p:sp>
        <p:nvSpPr>
          <p:cNvPr id="38" name="Text 36"/>
          <p:cNvSpPr txBox="1"/>
          <p:nvPr/>
        </p:nvSpPr>
        <p:spPr>
          <a:xfrm>
            <a:off x="548640" y="5715000"/>
            <a:ext cx="11091672" cy="502920"/>
          </a:xfrm>
          <a:prstGeom prst="rect">
            <a:avLst/>
          </a:prstGeom>
          <a:noFill/>
        </p:spPr>
        <p:txBody>
          <a:bodyPr wrap="square" lIns="0" tIns="0" rIns="0" bIns="0" rtlCol="0" anchor="ctr"/>
          <a:lstStyle/>
          <a:p>
            <a:pPr marL="0" indent="0" algn="ctr">
              <a:buNone/>
            </a:pPr>
            <a:r>
              <a:rPr lang="en-US" sz="1500" dirty="0">
                <a:solidFill>
                  <a:schemeClr val="tx2"/>
                </a:solidFill>
              </a:rPr>
              <a:t>Each process writes to one FIFO and reads from the other: two one-way channels give full-duplex chat.</a:t>
            </a:r>
            <a:endParaRPr lang="en-US" sz="1500" dirty="0"/>
          </a:p>
        </p:txBody>
      </p:sp>
      <p:sp>
        <p:nvSpPr>
          <p:cNvPr id="39" name="Slide Number Placeholder 0"/>
          <p:cNvSpPr>
            <a:spLocks noGrp="1"/>
          </p:cNvSpPr>
          <p:nvPr>
            <p:ph type="sldNum" sz="quarter" idx="4294967295"/>
          </p:nvPr>
        </p:nvSpPr>
        <p:spPr>
          <a:xfrm>
            <a:off x="10972800" y="6382512"/>
            <a:ext cx="667512" cy="274320"/>
          </a:xfrm>
          <a:prstGeom prst="rect">
            <a:avLst/>
          </a:prstGeom>
        </p:spPr>
        <p:txBody>
          <a:bodyPr/>
          <a:lstStyle>
            <a:lvl1pPr>
              <a:defRPr sz="1000">
                <a:solidFill>
                  <a:schemeClr val="accent5"/>
                </a:solidFill>
              </a:defRPr>
            </a:lvl1pPr>
          </a:lstStyle>
          <a:p>
            <a:pPr algn="r"/>
            <a:fld id="{F7021451-1387-4CA6-816F-3879F97B5CBC}" type="slidenum">
              <a:rPr lang="en-US" b="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548640" y="320040"/>
            <a:ext cx="11091672" cy="777240"/>
          </a:xfrm>
          <a:prstGeom prst="rect">
            <a:avLst/>
          </a:prstGeom>
          <a:noFill/>
        </p:spPr>
        <p:txBody>
          <a:bodyPr wrap="square" lIns="0" tIns="0" rIns="0" bIns="0" rtlCol="0" anchor="ctr"/>
          <a:lstStyle/>
          <a:p>
            <a:pPr marL="0" indent="0" algn="l">
              <a:buNone/>
            </a:pPr>
            <a:r>
              <a:rPr lang="en-US" sz="3200" b="1" dirty="0">
                <a:solidFill>
                  <a:schemeClr val="tx2"/>
                </a:solidFill>
              </a:rPr>
              <a:t>Technologies Used</a:t>
            </a:r>
            <a:endParaRPr lang="en-US" sz="3200" dirty="0"/>
          </a:p>
        </p:txBody>
      </p:sp>
      <p:sp>
        <p:nvSpPr>
          <p:cNvPr id="3" name="Tech card C language"/>
          <p:cNvSpPr/>
          <p:nvPr/>
        </p:nvSpPr>
        <p:spPr>
          <a:xfrm>
            <a:off x="548640" y="1371600"/>
            <a:ext cx="2679192" cy="2240280"/>
          </a:xfrm>
          <a:prstGeom prst="roundRect">
            <a:avLst>
              <a:gd name="adj" fmla="val 4082"/>
            </a:avLst>
          </a:prstGeom>
          <a:solidFill>
            <a:schemeClr val="bg2"/>
          </a:solidFill>
        </p:spPr>
      </p:sp>
      <p:sp>
        <p:nvSpPr>
          <p:cNvPr id="4" name="Icon circle FaCode"/>
          <p:cNvSpPr/>
          <p:nvPr/>
        </p:nvSpPr>
        <p:spPr>
          <a:xfrm>
            <a:off x="822960" y="1645920"/>
            <a:ext cx="640080" cy="640080"/>
          </a:xfrm>
          <a:prstGeom prst="ellipse">
            <a:avLst/>
          </a:prstGeom>
          <a:solidFill>
            <a:schemeClr val="accent1"/>
          </a:solidFill>
        </p:spPr>
      </p:sp>
      <p:pic>
        <p:nvPicPr>
          <p:cNvPr id="5" name="Image 0" descr="Code icon"/>
          <p:cNvPicPr>
            <a:picLocks noChangeAspect="1"/>
          </p:cNvPicPr>
          <p:nvPr/>
        </p:nvPicPr>
        <p:blipFill>
          <a:blip r:embed="rId1"/>
          <a:stretch>
            <a:fillRect/>
          </a:stretch>
        </p:blipFill>
        <p:spPr>
          <a:xfrm>
            <a:off x="982980" y="1805940"/>
            <a:ext cx="320040" cy="320040"/>
          </a:xfrm>
          <a:prstGeom prst="rect">
            <a:avLst/>
          </a:prstGeom>
        </p:spPr>
      </p:pic>
      <p:sp>
        <p:nvSpPr>
          <p:cNvPr id="6" name="Text 3"/>
          <p:cNvSpPr txBox="1"/>
          <p:nvPr/>
        </p:nvSpPr>
        <p:spPr>
          <a:xfrm>
            <a:off x="822960" y="2423160"/>
            <a:ext cx="2194560" cy="365760"/>
          </a:xfrm>
          <a:prstGeom prst="rect">
            <a:avLst/>
          </a:prstGeom>
          <a:noFill/>
        </p:spPr>
        <p:txBody>
          <a:bodyPr wrap="square" lIns="0" tIns="0" rIns="0" bIns="0" rtlCol="0" anchor="t"/>
          <a:lstStyle/>
          <a:p>
            <a:pPr marL="0" indent="0">
              <a:buNone/>
            </a:pPr>
            <a:r>
              <a:rPr lang="en-US" sz="1700" b="1" dirty="0">
                <a:solidFill>
                  <a:schemeClr val="tx2"/>
                </a:solidFill>
              </a:rPr>
              <a:t>C language</a:t>
            </a:r>
            <a:endParaRPr lang="en-US" sz="1700" dirty="0"/>
          </a:p>
        </p:txBody>
      </p:sp>
      <p:sp>
        <p:nvSpPr>
          <p:cNvPr id="7" name="Text 4"/>
          <p:cNvSpPr txBox="1"/>
          <p:nvPr/>
        </p:nvSpPr>
        <p:spPr>
          <a:xfrm>
            <a:off x="822960" y="2834640"/>
            <a:ext cx="2194560" cy="685800"/>
          </a:xfrm>
          <a:prstGeom prst="rect">
            <a:avLst/>
          </a:prstGeom>
          <a:noFill/>
        </p:spPr>
        <p:txBody>
          <a:bodyPr wrap="square" lIns="0" tIns="0" rIns="0" bIns="0" rtlCol="0" anchor="t"/>
          <a:lstStyle/>
          <a:p>
            <a:pPr marL="0" indent="0">
              <a:buNone/>
            </a:pPr>
            <a:r>
              <a:rPr lang="en-US" sz="1400" dirty="0">
                <a:solidFill>
                  <a:schemeClr val="tx1"/>
                </a:solidFill>
              </a:rPr>
              <a:t>Systems language with direct access to system calls</a:t>
            </a:r>
            <a:endParaRPr lang="en-US" sz="1400" dirty="0"/>
          </a:p>
        </p:txBody>
      </p:sp>
      <p:sp>
        <p:nvSpPr>
          <p:cNvPr id="8" name="Tech card Linux"/>
          <p:cNvSpPr/>
          <p:nvPr/>
        </p:nvSpPr>
        <p:spPr>
          <a:xfrm>
            <a:off x="3383280" y="1371600"/>
            <a:ext cx="2679192" cy="2240280"/>
          </a:xfrm>
          <a:prstGeom prst="roundRect">
            <a:avLst>
              <a:gd name="adj" fmla="val 4082"/>
            </a:avLst>
          </a:prstGeom>
          <a:solidFill>
            <a:schemeClr val="bg2"/>
          </a:solidFill>
        </p:spPr>
      </p:sp>
      <p:sp>
        <p:nvSpPr>
          <p:cNvPr id="9" name="Icon circle FaLinux"/>
          <p:cNvSpPr/>
          <p:nvPr/>
        </p:nvSpPr>
        <p:spPr>
          <a:xfrm>
            <a:off x="3657600" y="1645920"/>
            <a:ext cx="640080" cy="640080"/>
          </a:xfrm>
          <a:prstGeom prst="ellipse">
            <a:avLst/>
          </a:prstGeom>
          <a:solidFill>
            <a:schemeClr val="accent1"/>
          </a:solidFill>
        </p:spPr>
      </p:sp>
      <p:pic>
        <p:nvPicPr>
          <p:cNvPr id="10" name="Image 1" descr="Linux icon"/>
          <p:cNvPicPr>
            <a:picLocks noChangeAspect="1"/>
          </p:cNvPicPr>
          <p:nvPr/>
        </p:nvPicPr>
        <p:blipFill>
          <a:blip r:embed="rId2"/>
          <a:stretch>
            <a:fillRect/>
          </a:stretch>
        </p:blipFill>
        <p:spPr>
          <a:xfrm>
            <a:off x="3817620" y="1805940"/>
            <a:ext cx="320040" cy="320040"/>
          </a:xfrm>
          <a:prstGeom prst="rect">
            <a:avLst/>
          </a:prstGeom>
        </p:spPr>
      </p:pic>
      <p:sp>
        <p:nvSpPr>
          <p:cNvPr id="11" name="Text 7"/>
          <p:cNvSpPr txBox="1"/>
          <p:nvPr/>
        </p:nvSpPr>
        <p:spPr>
          <a:xfrm>
            <a:off x="3657600" y="2423160"/>
            <a:ext cx="2194560" cy="365760"/>
          </a:xfrm>
          <a:prstGeom prst="rect">
            <a:avLst/>
          </a:prstGeom>
          <a:noFill/>
        </p:spPr>
        <p:txBody>
          <a:bodyPr wrap="square" lIns="0" tIns="0" rIns="0" bIns="0" rtlCol="0" anchor="t"/>
          <a:lstStyle/>
          <a:p>
            <a:pPr marL="0" indent="0">
              <a:buNone/>
            </a:pPr>
            <a:r>
              <a:rPr lang="en-US" sz="1700" b="1" dirty="0">
                <a:solidFill>
                  <a:schemeClr val="tx2"/>
                </a:solidFill>
              </a:rPr>
              <a:t>Linux</a:t>
            </a:r>
            <a:endParaRPr lang="en-US" sz="1700" dirty="0"/>
          </a:p>
        </p:txBody>
      </p:sp>
      <p:sp>
        <p:nvSpPr>
          <p:cNvPr id="12" name="Text 8"/>
          <p:cNvSpPr txBox="1"/>
          <p:nvPr/>
        </p:nvSpPr>
        <p:spPr>
          <a:xfrm>
            <a:off x="3657600" y="2834640"/>
            <a:ext cx="2194560" cy="685800"/>
          </a:xfrm>
          <a:prstGeom prst="rect">
            <a:avLst/>
          </a:prstGeom>
          <a:noFill/>
        </p:spPr>
        <p:txBody>
          <a:bodyPr wrap="square" lIns="0" tIns="0" rIns="0" bIns="0" rtlCol="0" anchor="t"/>
          <a:lstStyle/>
          <a:p>
            <a:pPr marL="0" indent="0">
              <a:buNone/>
            </a:pPr>
            <a:r>
              <a:rPr lang="en-US" sz="1400" dirty="0">
                <a:solidFill>
                  <a:schemeClr val="tx1"/>
                </a:solidFill>
              </a:rPr>
              <a:t>Target OS with a POSIX-compliant kernel</a:t>
            </a:r>
            <a:endParaRPr lang="en-US" sz="1400" dirty="0"/>
          </a:p>
        </p:txBody>
      </p:sp>
      <p:sp>
        <p:nvSpPr>
          <p:cNvPr id="13" name="Tech card GCC"/>
          <p:cNvSpPr/>
          <p:nvPr/>
        </p:nvSpPr>
        <p:spPr>
          <a:xfrm>
            <a:off x="6217920" y="1371600"/>
            <a:ext cx="2679192" cy="2240280"/>
          </a:xfrm>
          <a:prstGeom prst="roundRect">
            <a:avLst>
              <a:gd name="adj" fmla="val 4082"/>
            </a:avLst>
          </a:prstGeom>
          <a:solidFill>
            <a:schemeClr val="bg2"/>
          </a:solidFill>
        </p:spPr>
      </p:sp>
      <p:sp>
        <p:nvSpPr>
          <p:cNvPr id="14" name="Icon circle FaCogs"/>
          <p:cNvSpPr/>
          <p:nvPr/>
        </p:nvSpPr>
        <p:spPr>
          <a:xfrm>
            <a:off x="6492240" y="1645920"/>
            <a:ext cx="640080" cy="640080"/>
          </a:xfrm>
          <a:prstGeom prst="ellipse">
            <a:avLst/>
          </a:prstGeom>
          <a:solidFill>
            <a:schemeClr val="accent1"/>
          </a:solidFill>
        </p:spPr>
      </p:sp>
      <p:pic>
        <p:nvPicPr>
          <p:cNvPr id="15" name="Image 2" descr="Cogs icon"/>
          <p:cNvPicPr>
            <a:picLocks noChangeAspect="1"/>
          </p:cNvPicPr>
          <p:nvPr/>
        </p:nvPicPr>
        <p:blipFill>
          <a:blip r:embed="rId3"/>
          <a:stretch>
            <a:fillRect/>
          </a:stretch>
        </p:blipFill>
        <p:spPr>
          <a:xfrm>
            <a:off x="6652260" y="1805940"/>
            <a:ext cx="320040" cy="320040"/>
          </a:xfrm>
          <a:prstGeom prst="rect">
            <a:avLst/>
          </a:prstGeom>
        </p:spPr>
      </p:pic>
      <p:sp>
        <p:nvSpPr>
          <p:cNvPr id="16" name="Text 11"/>
          <p:cNvSpPr txBox="1"/>
          <p:nvPr/>
        </p:nvSpPr>
        <p:spPr>
          <a:xfrm>
            <a:off x="6492240" y="2423160"/>
            <a:ext cx="2194560" cy="365760"/>
          </a:xfrm>
          <a:prstGeom prst="rect">
            <a:avLst/>
          </a:prstGeom>
          <a:noFill/>
        </p:spPr>
        <p:txBody>
          <a:bodyPr wrap="square" lIns="0" tIns="0" rIns="0" bIns="0" rtlCol="0" anchor="t"/>
          <a:lstStyle/>
          <a:p>
            <a:pPr marL="0" indent="0">
              <a:buNone/>
            </a:pPr>
            <a:r>
              <a:rPr lang="en-US" sz="1700" b="1" dirty="0">
                <a:solidFill>
                  <a:schemeClr val="tx2"/>
                </a:solidFill>
              </a:rPr>
              <a:t>GCC</a:t>
            </a:r>
            <a:endParaRPr lang="en-US" sz="1700" dirty="0"/>
          </a:p>
        </p:txBody>
      </p:sp>
      <p:sp>
        <p:nvSpPr>
          <p:cNvPr id="17" name="Text 12"/>
          <p:cNvSpPr txBox="1"/>
          <p:nvPr/>
        </p:nvSpPr>
        <p:spPr>
          <a:xfrm>
            <a:off x="6492240" y="2834640"/>
            <a:ext cx="2194560" cy="685800"/>
          </a:xfrm>
          <a:prstGeom prst="rect">
            <a:avLst/>
          </a:prstGeom>
          <a:noFill/>
        </p:spPr>
        <p:txBody>
          <a:bodyPr wrap="square" lIns="0" tIns="0" rIns="0" bIns="0" rtlCol="0" anchor="t"/>
          <a:lstStyle/>
          <a:p>
            <a:pPr marL="0" indent="0">
              <a:buNone/>
            </a:pPr>
            <a:r>
              <a:rPr lang="en-US" sz="1400" dirty="0">
                <a:solidFill>
                  <a:schemeClr val="tx1"/>
                </a:solidFill>
              </a:rPr>
              <a:t>Compiler toolchain, invoked from the shell</a:t>
            </a:r>
            <a:endParaRPr lang="en-US" sz="1400" dirty="0"/>
          </a:p>
        </p:txBody>
      </p:sp>
      <p:sp>
        <p:nvSpPr>
          <p:cNvPr id="18" name="Tech card POSIX system calls"/>
          <p:cNvSpPr/>
          <p:nvPr/>
        </p:nvSpPr>
        <p:spPr>
          <a:xfrm>
            <a:off x="9052560" y="1371600"/>
            <a:ext cx="2679192" cy="2240280"/>
          </a:xfrm>
          <a:prstGeom prst="roundRect">
            <a:avLst>
              <a:gd name="adj" fmla="val 4082"/>
            </a:avLst>
          </a:prstGeom>
          <a:solidFill>
            <a:schemeClr val="bg2"/>
          </a:solidFill>
        </p:spPr>
      </p:sp>
      <p:sp>
        <p:nvSpPr>
          <p:cNvPr id="19" name="Icon circle FaTerminal"/>
          <p:cNvSpPr/>
          <p:nvPr/>
        </p:nvSpPr>
        <p:spPr>
          <a:xfrm>
            <a:off x="9326880" y="1645920"/>
            <a:ext cx="640080" cy="640080"/>
          </a:xfrm>
          <a:prstGeom prst="ellipse">
            <a:avLst/>
          </a:prstGeom>
          <a:solidFill>
            <a:schemeClr val="accent1"/>
          </a:solidFill>
        </p:spPr>
      </p:sp>
      <p:pic>
        <p:nvPicPr>
          <p:cNvPr id="20" name="Image 3" descr="Terminal icon"/>
          <p:cNvPicPr>
            <a:picLocks noChangeAspect="1"/>
          </p:cNvPicPr>
          <p:nvPr/>
        </p:nvPicPr>
        <p:blipFill>
          <a:blip r:embed="rId4"/>
          <a:stretch>
            <a:fillRect/>
          </a:stretch>
        </p:blipFill>
        <p:spPr>
          <a:xfrm>
            <a:off x="9486900" y="1805940"/>
            <a:ext cx="320040" cy="320040"/>
          </a:xfrm>
          <a:prstGeom prst="rect">
            <a:avLst/>
          </a:prstGeom>
        </p:spPr>
      </p:pic>
      <p:sp>
        <p:nvSpPr>
          <p:cNvPr id="21" name="Text 15"/>
          <p:cNvSpPr txBox="1"/>
          <p:nvPr/>
        </p:nvSpPr>
        <p:spPr>
          <a:xfrm>
            <a:off x="9326880" y="2423160"/>
            <a:ext cx="2194560" cy="365760"/>
          </a:xfrm>
          <a:prstGeom prst="rect">
            <a:avLst/>
          </a:prstGeom>
          <a:noFill/>
        </p:spPr>
        <p:txBody>
          <a:bodyPr wrap="square" lIns="0" tIns="0" rIns="0" bIns="0" rtlCol="0" anchor="t"/>
          <a:lstStyle/>
          <a:p>
            <a:pPr marL="0" indent="0">
              <a:buNone/>
            </a:pPr>
            <a:r>
              <a:rPr lang="en-US" sz="1700" b="1" dirty="0">
                <a:solidFill>
                  <a:schemeClr val="tx2"/>
                </a:solidFill>
              </a:rPr>
              <a:t>POSIX system calls</a:t>
            </a:r>
            <a:endParaRPr lang="en-US" sz="1700" dirty="0"/>
          </a:p>
        </p:txBody>
      </p:sp>
      <p:sp>
        <p:nvSpPr>
          <p:cNvPr id="22" name="Text 16"/>
          <p:cNvSpPr txBox="1"/>
          <p:nvPr/>
        </p:nvSpPr>
        <p:spPr>
          <a:xfrm>
            <a:off x="9326880" y="2834640"/>
            <a:ext cx="2194560" cy="685800"/>
          </a:xfrm>
          <a:prstGeom prst="rect">
            <a:avLst/>
          </a:prstGeom>
          <a:noFill/>
        </p:spPr>
        <p:txBody>
          <a:bodyPr wrap="square" lIns="0" tIns="0" rIns="0" bIns="0" rtlCol="0" anchor="t"/>
          <a:lstStyle/>
          <a:p>
            <a:pPr marL="0" indent="0">
              <a:buNone/>
            </a:pPr>
            <a:r>
              <a:rPr lang="en-US" sz="1400" dirty="0">
                <a:solidFill>
                  <a:schemeClr val="tx1"/>
                </a:solidFill>
              </a:rPr>
              <a:t>open, read, write, close, fcntl</a:t>
            </a:r>
            <a:endParaRPr lang="en-US" sz="1400" dirty="0"/>
          </a:p>
        </p:txBody>
      </p:sp>
      <p:sp>
        <p:nvSpPr>
          <p:cNvPr id="23" name="Tech card Named pipes"/>
          <p:cNvSpPr/>
          <p:nvPr/>
        </p:nvSpPr>
        <p:spPr>
          <a:xfrm>
            <a:off x="548640" y="3840480"/>
            <a:ext cx="2679192" cy="2240280"/>
          </a:xfrm>
          <a:prstGeom prst="roundRect">
            <a:avLst>
              <a:gd name="adj" fmla="val 4082"/>
            </a:avLst>
          </a:prstGeom>
          <a:solidFill>
            <a:schemeClr val="bg2"/>
          </a:solidFill>
        </p:spPr>
      </p:sp>
      <p:sp>
        <p:nvSpPr>
          <p:cNvPr id="24" name="Icon circle FaPlug"/>
          <p:cNvSpPr/>
          <p:nvPr/>
        </p:nvSpPr>
        <p:spPr>
          <a:xfrm>
            <a:off x="822960" y="4114800"/>
            <a:ext cx="640080" cy="640080"/>
          </a:xfrm>
          <a:prstGeom prst="ellipse">
            <a:avLst/>
          </a:prstGeom>
          <a:solidFill>
            <a:schemeClr val="accent1"/>
          </a:solidFill>
        </p:spPr>
      </p:sp>
      <p:pic>
        <p:nvPicPr>
          <p:cNvPr id="25" name="Image 4" descr="Plug icon"/>
          <p:cNvPicPr>
            <a:picLocks noChangeAspect="1"/>
          </p:cNvPicPr>
          <p:nvPr/>
        </p:nvPicPr>
        <p:blipFill>
          <a:blip r:embed="rId5"/>
          <a:stretch>
            <a:fillRect/>
          </a:stretch>
        </p:blipFill>
        <p:spPr>
          <a:xfrm>
            <a:off x="982980" y="4274820"/>
            <a:ext cx="320040" cy="320040"/>
          </a:xfrm>
          <a:prstGeom prst="rect">
            <a:avLst/>
          </a:prstGeom>
        </p:spPr>
      </p:pic>
      <p:sp>
        <p:nvSpPr>
          <p:cNvPr id="26" name="Text 19"/>
          <p:cNvSpPr txBox="1"/>
          <p:nvPr/>
        </p:nvSpPr>
        <p:spPr>
          <a:xfrm>
            <a:off x="822960" y="4892040"/>
            <a:ext cx="2194560" cy="365760"/>
          </a:xfrm>
          <a:prstGeom prst="rect">
            <a:avLst/>
          </a:prstGeom>
          <a:noFill/>
        </p:spPr>
        <p:txBody>
          <a:bodyPr wrap="square" lIns="0" tIns="0" rIns="0" bIns="0" rtlCol="0" anchor="t"/>
          <a:lstStyle/>
          <a:p>
            <a:pPr marL="0" indent="0">
              <a:buNone/>
            </a:pPr>
            <a:r>
              <a:rPr lang="en-US" sz="1700" b="1" dirty="0">
                <a:solidFill>
                  <a:schemeClr val="tx2"/>
                </a:solidFill>
              </a:rPr>
              <a:t>Named pipes</a:t>
            </a:r>
            <a:endParaRPr lang="en-US" sz="1700" dirty="0"/>
          </a:p>
        </p:txBody>
      </p:sp>
      <p:sp>
        <p:nvSpPr>
          <p:cNvPr id="27" name="Text 20"/>
          <p:cNvSpPr txBox="1"/>
          <p:nvPr/>
        </p:nvSpPr>
        <p:spPr>
          <a:xfrm>
            <a:off x="822960" y="5303520"/>
            <a:ext cx="2194560" cy="685800"/>
          </a:xfrm>
          <a:prstGeom prst="rect">
            <a:avLst/>
          </a:prstGeom>
          <a:noFill/>
        </p:spPr>
        <p:txBody>
          <a:bodyPr wrap="square" lIns="0" tIns="0" rIns="0" bIns="0" rtlCol="0" anchor="t"/>
          <a:lstStyle/>
          <a:p>
            <a:pPr marL="0" indent="0">
              <a:buNone/>
            </a:pPr>
            <a:r>
              <a:rPr lang="en-US" sz="1400" dirty="0">
                <a:solidFill>
                  <a:schemeClr val="tx1"/>
                </a:solidFill>
              </a:rPr>
              <a:t>FIFO special files created with mkfifo()</a:t>
            </a:r>
            <a:endParaRPr lang="en-US" sz="1400" dirty="0"/>
          </a:p>
        </p:txBody>
      </p:sp>
      <p:sp>
        <p:nvSpPr>
          <p:cNvPr id="28" name="Tech card Signals"/>
          <p:cNvSpPr/>
          <p:nvPr/>
        </p:nvSpPr>
        <p:spPr>
          <a:xfrm>
            <a:off x="3383280" y="3840480"/>
            <a:ext cx="2679192" cy="2240280"/>
          </a:xfrm>
          <a:prstGeom prst="roundRect">
            <a:avLst>
              <a:gd name="adj" fmla="val 4082"/>
            </a:avLst>
          </a:prstGeom>
          <a:solidFill>
            <a:schemeClr val="bg2"/>
          </a:solidFill>
        </p:spPr>
      </p:sp>
      <p:sp>
        <p:nvSpPr>
          <p:cNvPr id="29" name="Icon circle FaBell"/>
          <p:cNvSpPr/>
          <p:nvPr/>
        </p:nvSpPr>
        <p:spPr>
          <a:xfrm>
            <a:off x="3657600" y="4114800"/>
            <a:ext cx="640080" cy="640080"/>
          </a:xfrm>
          <a:prstGeom prst="ellipse">
            <a:avLst/>
          </a:prstGeom>
          <a:solidFill>
            <a:schemeClr val="accent1"/>
          </a:solidFill>
        </p:spPr>
      </p:sp>
      <p:pic>
        <p:nvPicPr>
          <p:cNvPr id="30" name="Image 5" descr="Bell icon"/>
          <p:cNvPicPr>
            <a:picLocks noChangeAspect="1"/>
          </p:cNvPicPr>
          <p:nvPr/>
        </p:nvPicPr>
        <p:blipFill>
          <a:blip r:embed="rId6"/>
          <a:stretch>
            <a:fillRect/>
          </a:stretch>
        </p:blipFill>
        <p:spPr>
          <a:xfrm>
            <a:off x="3817620" y="4274820"/>
            <a:ext cx="320040" cy="320040"/>
          </a:xfrm>
          <a:prstGeom prst="rect">
            <a:avLst/>
          </a:prstGeom>
        </p:spPr>
      </p:pic>
      <p:sp>
        <p:nvSpPr>
          <p:cNvPr id="31" name="Text 23"/>
          <p:cNvSpPr txBox="1"/>
          <p:nvPr/>
        </p:nvSpPr>
        <p:spPr>
          <a:xfrm>
            <a:off x="3657600" y="4892040"/>
            <a:ext cx="2194560" cy="365760"/>
          </a:xfrm>
          <a:prstGeom prst="rect">
            <a:avLst/>
          </a:prstGeom>
          <a:noFill/>
        </p:spPr>
        <p:txBody>
          <a:bodyPr wrap="square" lIns="0" tIns="0" rIns="0" bIns="0" rtlCol="0" anchor="t"/>
          <a:lstStyle/>
          <a:p>
            <a:pPr marL="0" indent="0">
              <a:buNone/>
            </a:pPr>
            <a:r>
              <a:rPr lang="en-US" sz="1700" b="1" dirty="0">
                <a:solidFill>
                  <a:schemeClr val="tx2"/>
                </a:solidFill>
              </a:rPr>
              <a:t>Signals</a:t>
            </a:r>
            <a:endParaRPr lang="en-US" sz="1700" dirty="0"/>
          </a:p>
        </p:txBody>
      </p:sp>
      <p:sp>
        <p:nvSpPr>
          <p:cNvPr id="32" name="Text 24"/>
          <p:cNvSpPr txBox="1"/>
          <p:nvPr/>
        </p:nvSpPr>
        <p:spPr>
          <a:xfrm>
            <a:off x="3657600" y="5303520"/>
            <a:ext cx="2194560" cy="685800"/>
          </a:xfrm>
          <a:prstGeom prst="rect">
            <a:avLst/>
          </a:prstGeom>
          <a:noFill/>
        </p:spPr>
        <p:txBody>
          <a:bodyPr wrap="square" lIns="0" tIns="0" rIns="0" bIns="0" rtlCol="0" anchor="t"/>
          <a:lstStyle/>
          <a:p>
            <a:pPr marL="0" indent="0">
              <a:buNone/>
            </a:pPr>
            <a:r>
              <a:rPr lang="en-US" sz="1400" dirty="0">
                <a:solidFill>
                  <a:schemeClr val="tx1"/>
                </a:solidFill>
              </a:rPr>
              <a:t>Asynchronous notifications (e.g., SIGINT)</a:t>
            </a:r>
            <a:endParaRPr lang="en-US" sz="1400" dirty="0"/>
          </a:p>
        </p:txBody>
      </p:sp>
      <p:sp>
        <p:nvSpPr>
          <p:cNvPr id="33" name="Tech card select()"/>
          <p:cNvSpPr/>
          <p:nvPr/>
        </p:nvSpPr>
        <p:spPr>
          <a:xfrm>
            <a:off x="6217920" y="3840480"/>
            <a:ext cx="2679192" cy="2240280"/>
          </a:xfrm>
          <a:prstGeom prst="roundRect">
            <a:avLst>
              <a:gd name="adj" fmla="val 4082"/>
            </a:avLst>
          </a:prstGeom>
          <a:solidFill>
            <a:schemeClr val="bg2"/>
          </a:solidFill>
        </p:spPr>
      </p:sp>
      <p:sp>
        <p:nvSpPr>
          <p:cNvPr id="34" name="Icon circle FaEye"/>
          <p:cNvSpPr/>
          <p:nvPr/>
        </p:nvSpPr>
        <p:spPr>
          <a:xfrm>
            <a:off x="6492240" y="4114800"/>
            <a:ext cx="640080" cy="640080"/>
          </a:xfrm>
          <a:prstGeom prst="ellipse">
            <a:avLst/>
          </a:prstGeom>
          <a:solidFill>
            <a:schemeClr val="accent1"/>
          </a:solidFill>
        </p:spPr>
      </p:sp>
      <p:pic>
        <p:nvPicPr>
          <p:cNvPr id="35" name="Image 6" descr="Eye icon"/>
          <p:cNvPicPr>
            <a:picLocks noChangeAspect="1"/>
          </p:cNvPicPr>
          <p:nvPr/>
        </p:nvPicPr>
        <p:blipFill>
          <a:blip r:embed="rId7"/>
          <a:stretch>
            <a:fillRect/>
          </a:stretch>
        </p:blipFill>
        <p:spPr>
          <a:xfrm>
            <a:off x="6652260" y="4274820"/>
            <a:ext cx="320040" cy="320040"/>
          </a:xfrm>
          <a:prstGeom prst="rect">
            <a:avLst/>
          </a:prstGeom>
        </p:spPr>
      </p:pic>
      <p:sp>
        <p:nvSpPr>
          <p:cNvPr id="36" name="Text 27"/>
          <p:cNvSpPr txBox="1"/>
          <p:nvPr/>
        </p:nvSpPr>
        <p:spPr>
          <a:xfrm>
            <a:off x="6492240" y="4892040"/>
            <a:ext cx="2194560" cy="365760"/>
          </a:xfrm>
          <a:prstGeom prst="rect">
            <a:avLst/>
          </a:prstGeom>
          <a:noFill/>
        </p:spPr>
        <p:txBody>
          <a:bodyPr wrap="square" lIns="0" tIns="0" rIns="0" bIns="0" rtlCol="0" anchor="t"/>
          <a:lstStyle/>
          <a:p>
            <a:pPr marL="0" indent="0">
              <a:buNone/>
            </a:pPr>
            <a:r>
              <a:rPr lang="en-US" sz="1700" b="1" dirty="0">
                <a:solidFill>
                  <a:schemeClr val="tx2"/>
                </a:solidFill>
              </a:rPr>
              <a:t>select()</a:t>
            </a:r>
            <a:endParaRPr lang="en-US" sz="1700" dirty="0"/>
          </a:p>
        </p:txBody>
      </p:sp>
      <p:sp>
        <p:nvSpPr>
          <p:cNvPr id="37" name="Text 28"/>
          <p:cNvSpPr txBox="1"/>
          <p:nvPr/>
        </p:nvSpPr>
        <p:spPr>
          <a:xfrm>
            <a:off x="6492240" y="5303520"/>
            <a:ext cx="2194560" cy="685800"/>
          </a:xfrm>
          <a:prstGeom prst="rect">
            <a:avLst/>
          </a:prstGeom>
          <a:noFill/>
        </p:spPr>
        <p:txBody>
          <a:bodyPr wrap="square" lIns="0" tIns="0" rIns="0" bIns="0" rtlCol="0" anchor="t"/>
          <a:lstStyle/>
          <a:p>
            <a:pPr marL="0" indent="0">
              <a:buNone/>
            </a:pPr>
            <a:r>
              <a:rPr lang="en-US" sz="1400" dirty="0">
                <a:solidFill>
                  <a:schemeClr val="tx1"/>
                </a:solidFill>
              </a:rPr>
              <a:t>Watches stdin and the FIFO together</a:t>
            </a:r>
            <a:endParaRPr lang="en-US" sz="1400" dirty="0"/>
          </a:p>
        </p:txBody>
      </p:sp>
      <p:sp>
        <p:nvSpPr>
          <p:cNvPr id="38" name="Tech card Bash shell"/>
          <p:cNvSpPr/>
          <p:nvPr/>
        </p:nvSpPr>
        <p:spPr>
          <a:xfrm>
            <a:off x="9052560" y="3840480"/>
            <a:ext cx="2679192" cy="2240280"/>
          </a:xfrm>
          <a:prstGeom prst="roundRect">
            <a:avLst>
              <a:gd name="adj" fmla="val 4082"/>
            </a:avLst>
          </a:prstGeom>
          <a:solidFill>
            <a:schemeClr val="bg2"/>
          </a:solidFill>
        </p:spPr>
      </p:sp>
      <p:sp>
        <p:nvSpPr>
          <p:cNvPr id="39" name="Icon circle FaProjectDiagram"/>
          <p:cNvSpPr/>
          <p:nvPr/>
        </p:nvSpPr>
        <p:spPr>
          <a:xfrm>
            <a:off x="9326880" y="4114800"/>
            <a:ext cx="640080" cy="640080"/>
          </a:xfrm>
          <a:prstGeom prst="ellipse">
            <a:avLst/>
          </a:prstGeom>
          <a:solidFill>
            <a:schemeClr val="accent1"/>
          </a:solidFill>
        </p:spPr>
      </p:sp>
      <p:pic>
        <p:nvPicPr>
          <p:cNvPr id="40" name="Image 7" descr="ProjectDiagram icon"/>
          <p:cNvPicPr>
            <a:picLocks noChangeAspect="1"/>
          </p:cNvPicPr>
          <p:nvPr/>
        </p:nvPicPr>
        <p:blipFill>
          <a:blip r:embed="rId8"/>
          <a:stretch>
            <a:fillRect/>
          </a:stretch>
        </p:blipFill>
        <p:spPr>
          <a:xfrm>
            <a:off x="9486900" y="4274820"/>
            <a:ext cx="320040" cy="320040"/>
          </a:xfrm>
          <a:prstGeom prst="rect">
            <a:avLst/>
          </a:prstGeom>
        </p:spPr>
      </p:pic>
      <p:sp>
        <p:nvSpPr>
          <p:cNvPr id="41" name="Text 31"/>
          <p:cNvSpPr txBox="1"/>
          <p:nvPr/>
        </p:nvSpPr>
        <p:spPr>
          <a:xfrm>
            <a:off x="9326880" y="4892040"/>
            <a:ext cx="2194560" cy="365760"/>
          </a:xfrm>
          <a:prstGeom prst="rect">
            <a:avLst/>
          </a:prstGeom>
          <a:noFill/>
        </p:spPr>
        <p:txBody>
          <a:bodyPr wrap="square" lIns="0" tIns="0" rIns="0" bIns="0" rtlCol="0" anchor="t"/>
          <a:lstStyle/>
          <a:p>
            <a:pPr marL="0" indent="0">
              <a:buNone/>
            </a:pPr>
            <a:r>
              <a:rPr lang="en-US" sz="1700" b="1" dirty="0">
                <a:solidFill>
                  <a:schemeClr val="tx2"/>
                </a:solidFill>
              </a:rPr>
              <a:t>Bash shell</a:t>
            </a:r>
            <a:endParaRPr lang="en-US" sz="1700" dirty="0"/>
          </a:p>
        </p:txBody>
      </p:sp>
      <p:sp>
        <p:nvSpPr>
          <p:cNvPr id="42" name="Text 32"/>
          <p:cNvSpPr txBox="1"/>
          <p:nvPr/>
        </p:nvSpPr>
        <p:spPr>
          <a:xfrm>
            <a:off x="9326880" y="5303520"/>
            <a:ext cx="2194560" cy="685800"/>
          </a:xfrm>
          <a:prstGeom prst="rect">
            <a:avLst/>
          </a:prstGeom>
          <a:noFill/>
        </p:spPr>
        <p:txBody>
          <a:bodyPr wrap="square" lIns="0" tIns="0" rIns="0" bIns="0" rtlCol="0" anchor="t"/>
          <a:lstStyle/>
          <a:p>
            <a:pPr marL="0" indent="0">
              <a:buNone/>
            </a:pPr>
            <a:r>
              <a:rPr lang="en-US" sz="1400" dirty="0">
                <a:solidFill>
                  <a:schemeClr val="tx1"/>
                </a:solidFill>
              </a:rPr>
              <a:t>Build, launch and observe both processes</a:t>
            </a:r>
            <a:endParaRPr lang="en-US" sz="1400" dirty="0"/>
          </a:p>
        </p:txBody>
      </p:sp>
      <p:sp>
        <p:nvSpPr>
          <p:cNvPr id="43" name="Slide Number Placeholder 0"/>
          <p:cNvSpPr>
            <a:spLocks noGrp="1"/>
          </p:cNvSpPr>
          <p:nvPr>
            <p:ph type="sldNum" sz="quarter" idx="4294967295"/>
          </p:nvPr>
        </p:nvSpPr>
        <p:spPr>
          <a:xfrm>
            <a:off x="10972800" y="6382512"/>
            <a:ext cx="667512" cy="274320"/>
          </a:xfrm>
          <a:prstGeom prst="rect">
            <a:avLst/>
          </a:prstGeom>
        </p:spPr>
        <p:txBody>
          <a:bodyPr/>
          <a:lstStyle>
            <a:lvl1pPr>
              <a:defRPr sz="1000">
                <a:solidFill>
                  <a:schemeClr val="accent5"/>
                </a:solidFill>
              </a:defRPr>
            </a:lvl1pPr>
          </a:lstStyle>
          <a:p>
            <a:pPr algn="r"/>
            <a:fld id="{F7021451-1387-4CA6-816F-3879F97B5CBC}" type="slidenum">
              <a:rPr lang="en-US" b="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548640" y="320040"/>
            <a:ext cx="11091672" cy="777240"/>
          </a:xfrm>
          <a:prstGeom prst="rect">
            <a:avLst/>
          </a:prstGeom>
          <a:noFill/>
        </p:spPr>
        <p:txBody>
          <a:bodyPr wrap="square" lIns="0" tIns="0" rIns="0" bIns="0" rtlCol="0" anchor="ctr"/>
          <a:lstStyle/>
          <a:p>
            <a:pPr marL="0" indent="0" algn="l">
              <a:buNone/>
            </a:pPr>
            <a:r>
              <a:rPr lang="en-US" sz="3200" b="1" dirty="0">
                <a:solidFill>
                  <a:schemeClr val="tx2"/>
                </a:solidFill>
              </a:rPr>
              <a:t>Implementation and Working</a:t>
            </a:r>
            <a:endParaRPr lang="en-US" sz="3200" dirty="0"/>
          </a:p>
        </p:txBody>
      </p:sp>
      <p:graphicFrame>
        <p:nvGraphicFramePr>
          <p:cNvPr id="9" name="System call table"/>
          <p:cNvGraphicFramePr>
            <a:graphicFrameLocks noGrp="1"/>
          </p:cNvGraphicFramePr>
          <p:nvPr/>
        </p:nvGraphicFramePr>
        <p:xfrm>
          <a:off x="548640" y="1280160"/>
          <a:ext cx="7040880" cy="4572000"/>
        </p:xfrm>
        <a:graphic>
          <a:graphicData uri="http://schemas.openxmlformats.org/drawingml/2006/table">
            <a:tbl>
              <a:tblPr/>
              <a:tblGrid>
                <a:gridCol w="1554480"/>
                <a:gridCol w="5486400"/>
              </a:tblGrid>
              <a:tr h="457200">
                <a:tc>
                  <a:txBody>
                    <a:bodyPr/>
                    <a:lstStyle/>
                    <a:p>
                      <a:pPr marL="0" indent="0">
                        <a:buNone/>
                      </a:pPr>
                      <a:r>
                        <a:rPr lang="en-US" sz="1400" b="1" dirty="0">
                          <a:solidFill>
                            <a:schemeClr val="bg1"/>
                          </a:solidFill>
                        </a:rPr>
                        <a:t>Call</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Role in the chat application</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tx2"/>
                    </a:solidFill>
                  </a:tcPr>
                </a:tc>
              </a:tr>
              <a:tr h="566928">
                <a:tc>
                  <a:txBody>
                    <a:bodyPr/>
                    <a:lstStyle/>
                    <a:p>
                      <a:pPr marL="0" indent="0">
                        <a:buNone/>
                      </a:pPr>
                      <a:r>
                        <a:rPr lang="en-US" sz="1400" b="1" dirty="0">
                          <a:solidFill>
                            <a:schemeClr val="accent3"/>
                          </a:solidFill>
                          <a:latin typeface="Courier New" panose="02070309020205020404" pitchFamily="34" charset="0"/>
                          <a:ea typeface="Courier New" panose="02070309020205020404" pitchFamily="34" charset="-122"/>
                          <a:cs typeface="Courier New" panose="02070309020205020404" pitchFamily="34" charset="-120"/>
                        </a:rPr>
                        <a:t>mkfifo()</a:t>
                      </a:r>
                      <a:endParaRPr lang="en-US" sz="1400" dirty="0">
                        <a:latin typeface="Courier New" panose="02070309020205020404" pitchFamily="34" charset="0"/>
                        <a:ea typeface="Courier New" panose="02070309020205020404" pitchFamily="34" charset="0"/>
                        <a:cs typeface="Courier New" panose="02070309020205020404" pitchFamily="34" charset="0"/>
                      </a:endParaRPr>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Creates the two FIFO special files</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r>
              <a:tr h="713232">
                <a:tc>
                  <a:txBody>
                    <a:bodyPr/>
                    <a:lstStyle/>
                    <a:p>
                      <a:pPr marL="0" indent="0">
                        <a:buNone/>
                      </a:pPr>
                      <a:r>
                        <a:rPr lang="en-US" sz="1400" b="1" dirty="0">
                          <a:solidFill>
                            <a:schemeClr val="accent3"/>
                          </a:solidFill>
                          <a:latin typeface="Courier New" panose="02070309020205020404" pitchFamily="34" charset="0"/>
                          <a:ea typeface="Courier New" panose="02070309020205020404" pitchFamily="34" charset="-122"/>
                          <a:cs typeface="Courier New" panose="02070309020205020404" pitchFamily="34" charset="-120"/>
                        </a:rPr>
                        <a:t>open()</a:t>
                      </a:r>
                      <a:endParaRPr lang="en-US" sz="1400" dirty="0">
                        <a:latin typeface="Courier New" panose="02070309020205020404" pitchFamily="34" charset="0"/>
                        <a:ea typeface="Courier New" panose="02070309020205020404" pitchFamily="34" charset="0"/>
                        <a:cs typeface="Courier New" panose="02070309020205020404" pitchFamily="34" charset="0"/>
                      </a:endParaRPr>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Opens the write end of one FIFO and the read end of the other</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1"/>
                    </a:solidFill>
                  </a:tcPr>
                </a:tc>
              </a:tr>
              <a:tr h="566928">
                <a:tc>
                  <a:txBody>
                    <a:bodyPr/>
                    <a:lstStyle/>
                    <a:p>
                      <a:pPr marL="0" indent="0">
                        <a:buNone/>
                      </a:pPr>
                      <a:r>
                        <a:rPr lang="en-US" sz="1400" b="1" dirty="0">
                          <a:solidFill>
                            <a:schemeClr val="accent3"/>
                          </a:solidFill>
                          <a:latin typeface="Courier New" panose="02070309020205020404" pitchFamily="34" charset="0"/>
                          <a:ea typeface="Courier New" panose="02070309020205020404" pitchFamily="34" charset="-122"/>
                          <a:cs typeface="Courier New" panose="02070309020205020404" pitchFamily="34" charset="-120"/>
                        </a:rPr>
                        <a:t>read()</a:t>
                      </a:r>
                      <a:endParaRPr lang="en-US" sz="1400" dirty="0">
                        <a:latin typeface="Courier New" panose="02070309020205020404" pitchFamily="34" charset="0"/>
                        <a:ea typeface="Courier New" panose="02070309020205020404" pitchFamily="34" charset="0"/>
                        <a:cs typeface="Courier New" panose="02070309020205020404" pitchFamily="34" charset="0"/>
                      </a:endParaRPr>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Reads keyboard input and incoming FIFO data</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r>
              <a:tr h="566928">
                <a:tc>
                  <a:txBody>
                    <a:bodyPr/>
                    <a:lstStyle/>
                    <a:p>
                      <a:pPr marL="0" indent="0">
                        <a:buNone/>
                      </a:pPr>
                      <a:r>
                        <a:rPr lang="en-US" sz="1400" b="1" dirty="0">
                          <a:solidFill>
                            <a:schemeClr val="accent3"/>
                          </a:solidFill>
                          <a:latin typeface="Courier New" panose="02070309020205020404" pitchFamily="34" charset="0"/>
                          <a:ea typeface="Courier New" panose="02070309020205020404" pitchFamily="34" charset="-122"/>
                          <a:cs typeface="Courier New" panose="02070309020205020404" pitchFamily="34" charset="-120"/>
                        </a:rPr>
                        <a:t>write()</a:t>
                      </a:r>
                      <a:endParaRPr lang="en-US" sz="1400" dirty="0">
                        <a:latin typeface="Courier New" panose="02070309020205020404" pitchFamily="34" charset="0"/>
                        <a:ea typeface="Courier New" panose="02070309020205020404" pitchFamily="34" charset="0"/>
                        <a:cs typeface="Courier New" panose="02070309020205020404" pitchFamily="34" charset="0"/>
                      </a:endParaRPr>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Sends message bytes into the outgoing FIFO</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1"/>
                    </a:solidFill>
                  </a:tcPr>
                </a:tc>
              </a:tr>
              <a:tr h="566928">
                <a:tc>
                  <a:txBody>
                    <a:bodyPr/>
                    <a:lstStyle/>
                    <a:p>
                      <a:pPr marL="0" indent="0">
                        <a:buNone/>
                      </a:pPr>
                      <a:r>
                        <a:rPr lang="en-US" sz="1400" b="1" dirty="0">
                          <a:solidFill>
                            <a:schemeClr val="accent3"/>
                          </a:solidFill>
                          <a:latin typeface="Courier New" panose="02070309020205020404" pitchFamily="34" charset="0"/>
                          <a:ea typeface="Courier New" panose="02070309020205020404" pitchFamily="34" charset="-122"/>
                          <a:cs typeface="Courier New" panose="02070309020205020404" pitchFamily="34" charset="-120"/>
                        </a:rPr>
                        <a:t>select()</a:t>
                      </a:r>
                      <a:endParaRPr lang="en-US" sz="1400" dirty="0">
                        <a:latin typeface="Courier New" panose="02070309020205020404" pitchFamily="34" charset="0"/>
                        <a:ea typeface="Courier New" panose="02070309020205020404" pitchFamily="34" charset="0"/>
                        <a:cs typeface="Courier New" panose="02070309020205020404" pitchFamily="34" charset="0"/>
                      </a:endParaRPr>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Blocks until stdin or the FIFO is readable</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r>
              <a:tr h="566928">
                <a:tc>
                  <a:txBody>
                    <a:bodyPr/>
                    <a:lstStyle/>
                    <a:p>
                      <a:pPr marL="0" indent="0">
                        <a:buNone/>
                      </a:pPr>
                      <a:r>
                        <a:rPr lang="en-US" sz="1400" b="1" dirty="0">
                          <a:solidFill>
                            <a:schemeClr val="accent3"/>
                          </a:solidFill>
                          <a:latin typeface="Courier New" panose="02070309020205020404" pitchFamily="34" charset="0"/>
                          <a:ea typeface="Courier New" panose="02070309020205020404" pitchFamily="34" charset="-122"/>
                          <a:cs typeface="Courier New" panose="02070309020205020404" pitchFamily="34" charset="-120"/>
                        </a:rPr>
                        <a:t>fcntl()</a:t>
                      </a:r>
                      <a:endParaRPr lang="en-US" sz="1400" dirty="0">
                        <a:latin typeface="Courier New" panose="02070309020205020404" pitchFamily="34" charset="0"/>
                        <a:ea typeface="Courier New" panose="02070309020205020404" pitchFamily="34" charset="0"/>
                        <a:cs typeface="Courier New" panose="02070309020205020404" pitchFamily="34" charset="0"/>
                      </a:endParaRPr>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Adjusts descriptor flags (e.g., O_NONBLOCK)</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1"/>
                    </a:solidFill>
                  </a:tcPr>
                </a:tc>
              </a:tr>
              <a:tr h="566928">
                <a:tc>
                  <a:txBody>
                    <a:bodyPr/>
                    <a:lstStyle/>
                    <a:p>
                      <a:pPr marL="0" indent="0">
                        <a:buNone/>
                      </a:pPr>
                      <a:r>
                        <a:rPr lang="en-US" sz="1400" b="1" dirty="0">
                          <a:solidFill>
                            <a:schemeClr val="accent3"/>
                          </a:solidFill>
                          <a:latin typeface="Courier New" panose="02070309020205020404" pitchFamily="34" charset="0"/>
                          <a:ea typeface="Courier New" panose="02070309020205020404" pitchFamily="34" charset="-122"/>
                          <a:cs typeface="Courier New" panose="02070309020205020404" pitchFamily="34" charset="-120"/>
                        </a:rPr>
                        <a:t>close()</a:t>
                      </a:r>
                      <a:endParaRPr lang="en-US" sz="1400" dirty="0">
                        <a:latin typeface="Courier New" panose="02070309020205020404" pitchFamily="34" charset="0"/>
                        <a:ea typeface="Courier New" panose="02070309020205020404" pitchFamily="34" charset="0"/>
                        <a:cs typeface="Courier New" panose="02070309020205020404" pitchFamily="34" charset="0"/>
                      </a:endParaRPr>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Releases descriptors on disconnection</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r>
            </a:tbl>
          </a:graphicData>
        </a:graphic>
      </p:graphicFrame>
      <p:sp>
        <p:nvSpPr>
          <p:cNvPr id="4" name="Two FIFO card"/>
          <p:cNvSpPr/>
          <p:nvPr/>
        </p:nvSpPr>
        <p:spPr>
          <a:xfrm>
            <a:off x="7909560" y="1280160"/>
            <a:ext cx="3730752" cy="4663440"/>
          </a:xfrm>
          <a:prstGeom prst="roundRect">
            <a:avLst>
              <a:gd name="adj" fmla="val 2451"/>
            </a:avLst>
          </a:prstGeom>
          <a:solidFill>
            <a:schemeClr val="bg2"/>
          </a:solidFill>
        </p:spPr>
      </p:sp>
      <p:sp>
        <p:nvSpPr>
          <p:cNvPr id="5" name="Text 2"/>
          <p:cNvSpPr txBox="1"/>
          <p:nvPr/>
        </p:nvSpPr>
        <p:spPr>
          <a:xfrm>
            <a:off x="8138160" y="1417320"/>
            <a:ext cx="3291840" cy="365760"/>
          </a:xfrm>
          <a:prstGeom prst="rect">
            <a:avLst/>
          </a:prstGeom>
          <a:noFill/>
        </p:spPr>
        <p:txBody>
          <a:bodyPr wrap="square" lIns="0" tIns="0" rIns="0" bIns="0" rtlCol="0" anchor="t"/>
          <a:lstStyle/>
          <a:p>
            <a:pPr marL="0" indent="0">
              <a:buNone/>
            </a:pPr>
            <a:r>
              <a:rPr lang="en-US" sz="1800" b="1" dirty="0">
                <a:solidFill>
                  <a:schemeClr val="tx2"/>
                </a:solidFill>
              </a:rPr>
              <a:t>Two FIFOs = full duplex</a:t>
            </a:r>
            <a:endParaRPr lang="en-US" sz="1800" dirty="0"/>
          </a:p>
        </p:txBody>
      </p:sp>
      <p:sp>
        <p:nvSpPr>
          <p:cNvPr id="6" name="Process A mini box"/>
          <p:cNvSpPr/>
          <p:nvPr/>
        </p:nvSpPr>
        <p:spPr>
          <a:xfrm>
            <a:off x="8138160" y="1965960"/>
            <a:ext cx="1188720" cy="1417320"/>
          </a:xfrm>
          <a:prstGeom prst="roundRect">
            <a:avLst>
              <a:gd name="adj" fmla="val 7692"/>
            </a:avLst>
          </a:prstGeom>
          <a:solidFill>
            <a:schemeClr val="accent3"/>
          </a:solidFill>
        </p:spPr>
      </p:sp>
      <p:sp>
        <p:nvSpPr>
          <p:cNvPr id="7" name="Text 4"/>
          <p:cNvSpPr txBox="1"/>
          <p:nvPr/>
        </p:nvSpPr>
        <p:spPr>
          <a:xfrm>
            <a:off x="8138160" y="1965960"/>
            <a:ext cx="1188720" cy="1417320"/>
          </a:xfrm>
          <a:prstGeom prst="rect">
            <a:avLst/>
          </a:prstGeom>
          <a:noFill/>
        </p:spPr>
        <p:txBody>
          <a:bodyPr wrap="square" lIns="0" tIns="0" rIns="0" bIns="0" rtlCol="0" anchor="ctr"/>
          <a:lstStyle/>
          <a:p>
            <a:pPr marL="0" indent="0" algn="ctr">
              <a:buNone/>
            </a:pPr>
            <a:r>
              <a:rPr lang="en-US" sz="1400" b="1" dirty="0">
                <a:solidFill>
                  <a:schemeClr val="bg1"/>
                </a:solidFill>
              </a:rPr>
              <a:t>Process A</a:t>
            </a:r>
            <a:endParaRPr lang="en-US" sz="1400" dirty="0"/>
          </a:p>
        </p:txBody>
      </p:sp>
      <p:sp>
        <p:nvSpPr>
          <p:cNvPr id="8" name="Process B mini box"/>
          <p:cNvSpPr/>
          <p:nvPr/>
        </p:nvSpPr>
        <p:spPr>
          <a:xfrm>
            <a:off x="10241280" y="1965960"/>
            <a:ext cx="1188720" cy="1417320"/>
          </a:xfrm>
          <a:prstGeom prst="roundRect">
            <a:avLst>
              <a:gd name="adj" fmla="val 7692"/>
            </a:avLst>
          </a:prstGeom>
          <a:solidFill>
            <a:schemeClr val="accent3"/>
          </a:solidFill>
        </p:spPr>
      </p:sp>
      <p:sp>
        <p:nvSpPr>
          <p:cNvPr id="3" name="Text 6"/>
          <p:cNvSpPr txBox="1"/>
          <p:nvPr/>
        </p:nvSpPr>
        <p:spPr>
          <a:xfrm>
            <a:off x="10241280" y="1965960"/>
            <a:ext cx="1188720" cy="1417320"/>
          </a:xfrm>
          <a:prstGeom prst="rect">
            <a:avLst/>
          </a:prstGeom>
          <a:noFill/>
        </p:spPr>
        <p:txBody>
          <a:bodyPr wrap="square" lIns="0" tIns="0" rIns="0" bIns="0" rtlCol="0" anchor="ctr"/>
          <a:lstStyle/>
          <a:p>
            <a:pPr marL="0" indent="0" algn="ctr">
              <a:buNone/>
            </a:pPr>
            <a:r>
              <a:rPr lang="en-US" sz="1400" b="1" dirty="0">
                <a:solidFill>
                  <a:schemeClr val="bg1"/>
                </a:solidFill>
              </a:rPr>
              <a:t>Process B</a:t>
            </a:r>
            <a:endParaRPr lang="en-US" sz="1400" dirty="0"/>
          </a:p>
        </p:txBody>
      </p:sp>
      <p:sp>
        <p:nvSpPr>
          <p:cNvPr id="10" name="Shape 7"/>
          <p:cNvSpPr/>
          <p:nvPr/>
        </p:nvSpPr>
        <p:spPr>
          <a:xfrm>
            <a:off x="9326880" y="2514600"/>
            <a:ext cx="914400" cy="0"/>
          </a:xfrm>
          <a:prstGeom prst="line">
            <a:avLst/>
          </a:prstGeom>
          <a:noFill/>
          <a:ln w="31750">
            <a:solidFill>
              <a:schemeClr val="accent1"/>
            </a:solidFill>
            <a:prstDash val="solid"/>
            <a:tailEnd type="triangle"/>
          </a:ln>
        </p:spPr>
      </p:sp>
      <p:sp>
        <p:nvSpPr>
          <p:cNvPr id="11" name="Shape 8"/>
          <p:cNvSpPr/>
          <p:nvPr/>
        </p:nvSpPr>
        <p:spPr>
          <a:xfrm flipH="1">
            <a:off x="9326880" y="3017520"/>
            <a:ext cx="914400" cy="0"/>
          </a:xfrm>
          <a:prstGeom prst="line">
            <a:avLst/>
          </a:prstGeom>
          <a:noFill/>
          <a:ln w="31750">
            <a:solidFill>
              <a:schemeClr val="accent1"/>
            </a:solidFill>
            <a:prstDash val="solid"/>
            <a:tailEnd type="triangle"/>
          </a:ln>
        </p:spPr>
      </p:sp>
      <p:sp>
        <p:nvSpPr>
          <p:cNvPr id="12" name="Text 9"/>
          <p:cNvSpPr txBox="1"/>
          <p:nvPr/>
        </p:nvSpPr>
        <p:spPr>
          <a:xfrm>
            <a:off x="9326880" y="2240280"/>
            <a:ext cx="914400" cy="256032"/>
          </a:xfrm>
          <a:prstGeom prst="rect">
            <a:avLst/>
          </a:prstGeom>
          <a:noFill/>
        </p:spPr>
        <p:txBody>
          <a:bodyPr wrap="square" lIns="0" tIns="0" rIns="0" bIns="0" rtlCol="0" anchor="t"/>
          <a:lstStyle/>
          <a:p>
            <a:pPr marL="0" indent="0" algn="ctr">
              <a:buNone/>
            </a:pPr>
            <a:r>
              <a:rPr lang="en-US" sz="1100" b="1" dirty="0">
                <a:solidFill>
                  <a:schemeClr val="accent1"/>
                </a:solidFill>
              </a:rPr>
              <a:t>A→B</a:t>
            </a:r>
            <a:endParaRPr lang="en-US" sz="1100" dirty="0"/>
          </a:p>
        </p:txBody>
      </p:sp>
      <p:sp>
        <p:nvSpPr>
          <p:cNvPr id="13" name="Text 10"/>
          <p:cNvSpPr txBox="1"/>
          <p:nvPr/>
        </p:nvSpPr>
        <p:spPr>
          <a:xfrm>
            <a:off x="9326880" y="3063240"/>
            <a:ext cx="914400" cy="256032"/>
          </a:xfrm>
          <a:prstGeom prst="rect">
            <a:avLst/>
          </a:prstGeom>
          <a:noFill/>
        </p:spPr>
        <p:txBody>
          <a:bodyPr wrap="square" lIns="0" tIns="0" rIns="0" bIns="0" rtlCol="0" anchor="t"/>
          <a:lstStyle/>
          <a:p>
            <a:pPr marL="0" indent="0" algn="ctr">
              <a:buNone/>
            </a:pPr>
            <a:r>
              <a:rPr lang="en-US" sz="1100" b="1" dirty="0">
                <a:solidFill>
                  <a:schemeClr val="accent1"/>
                </a:solidFill>
              </a:rPr>
              <a:t>B→A</a:t>
            </a:r>
            <a:endParaRPr lang="en-US" sz="1100" dirty="0"/>
          </a:p>
        </p:txBody>
      </p:sp>
      <p:sp>
        <p:nvSpPr>
          <p:cNvPr id="14" name="Text 11"/>
          <p:cNvSpPr txBox="1"/>
          <p:nvPr/>
        </p:nvSpPr>
        <p:spPr>
          <a:xfrm>
            <a:off x="8138160" y="3657600"/>
            <a:ext cx="3337560" cy="2103120"/>
          </a:xfrm>
          <a:prstGeom prst="rect">
            <a:avLst/>
          </a:prstGeom>
          <a:noFill/>
        </p:spPr>
        <p:txBody>
          <a:bodyPr wrap="square" lIns="0" tIns="0" rIns="0" bIns="0" rtlCol="0" anchor="t"/>
          <a:lstStyle/>
          <a:p>
            <a:pPr marL="228600" indent="-228600">
              <a:spcAft>
                <a:spcPts val="800"/>
              </a:spcAft>
              <a:buSzPct val="100000"/>
              <a:buChar char="•"/>
            </a:pPr>
            <a:r>
              <a:rPr lang="en-US" sz="1400" dirty="0">
                <a:solidFill>
                  <a:schemeClr val="tx1"/>
                </a:solidFill>
              </a:rPr>
              <a:t>A writes A→B and reads B→A.</a:t>
            </a:r>
            <a:endParaRPr lang="en-US" sz="1400" dirty="0"/>
          </a:p>
          <a:p>
            <a:pPr marL="228600" indent="-228600">
              <a:spcAft>
                <a:spcPts val="800"/>
              </a:spcAft>
              <a:buSzPct val="100000"/>
              <a:buChar char="•"/>
            </a:pPr>
            <a:r>
              <a:rPr lang="en-US" sz="1400" dirty="0">
                <a:solidFill>
                  <a:schemeClr val="tx1"/>
                </a:solidFill>
              </a:rPr>
              <a:t>B writes B→A and reads A→B.</a:t>
            </a:r>
            <a:endParaRPr lang="en-US" sz="1400" dirty="0"/>
          </a:p>
          <a:p>
            <a:pPr marL="228600" indent="-228600">
              <a:spcAft>
                <a:spcPts val="800"/>
              </a:spcAft>
              <a:buSzPct val="100000"/>
              <a:buChar char="•"/>
            </a:pPr>
            <a:r>
              <a:rPr lang="en-US" sz="1400" dirty="0">
                <a:solidFill>
                  <a:schemeClr val="tx1"/>
                </a:solidFill>
              </a:rPr>
              <a:t>One FIFO is one-way; two give two-way chat.</a:t>
            </a:r>
            <a:endParaRPr lang="en-US" sz="1400" dirty="0"/>
          </a:p>
        </p:txBody>
      </p:sp>
      <p:sp>
        <p:nvSpPr>
          <p:cNvPr id="25" name="Slide Number Placeholder 0"/>
          <p:cNvSpPr>
            <a:spLocks noGrp="1"/>
          </p:cNvSpPr>
          <p:nvPr>
            <p:ph type="sldNum" sz="quarter" idx="4294967295"/>
          </p:nvPr>
        </p:nvSpPr>
        <p:spPr>
          <a:xfrm>
            <a:off x="10972800" y="6382512"/>
            <a:ext cx="667512" cy="274320"/>
          </a:xfrm>
          <a:prstGeom prst="rect">
            <a:avLst/>
          </a:prstGeom>
        </p:spPr>
        <p:txBody>
          <a:bodyPr/>
          <a:lstStyle>
            <a:lvl1pPr>
              <a:defRPr sz="1000">
                <a:solidFill>
                  <a:schemeClr val="accent5"/>
                </a:solidFill>
              </a:defRPr>
            </a:lvl1pPr>
          </a:lstStyle>
          <a:p>
            <a:pPr algn="r"/>
            <a:fld id="{F7021451-1387-4CA6-816F-3879F97B5CBC}" type="slidenum">
              <a:rPr lang="en-US" b="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548640" y="320040"/>
            <a:ext cx="11091672" cy="777240"/>
          </a:xfrm>
          <a:prstGeom prst="rect">
            <a:avLst/>
          </a:prstGeom>
          <a:noFill/>
        </p:spPr>
        <p:txBody>
          <a:bodyPr wrap="square" lIns="0" tIns="0" rIns="0" bIns="0" rtlCol="0" anchor="ctr"/>
          <a:lstStyle/>
          <a:p>
            <a:pPr marL="0" indent="0" algn="l">
              <a:buNone/>
            </a:pPr>
            <a:r>
              <a:rPr lang="en-US" sz="3200" b="1" dirty="0">
                <a:solidFill>
                  <a:schemeClr val="tx2"/>
                </a:solidFill>
              </a:rPr>
              <a:t>Important Code Explanation</a:t>
            </a:r>
            <a:endParaRPr lang="en-US" sz="3200" dirty="0"/>
          </a:p>
        </p:txBody>
      </p:sp>
      <p:sp>
        <p:nvSpPr>
          <p:cNvPr id="3" name="Code box 1. FIFO creation and opening"/>
          <p:cNvSpPr/>
          <p:nvPr/>
        </p:nvSpPr>
        <p:spPr>
          <a:xfrm>
            <a:off x="548640" y="1280160"/>
            <a:ext cx="5440680" cy="2331720"/>
          </a:xfrm>
          <a:prstGeom prst="roundRect">
            <a:avLst>
              <a:gd name="adj" fmla="val 3922"/>
            </a:avLst>
          </a:prstGeom>
          <a:solidFill>
            <a:schemeClr val="accent6"/>
          </a:solidFill>
        </p:spPr>
      </p:sp>
      <p:sp>
        <p:nvSpPr>
          <p:cNvPr id="4" name="Text 2"/>
          <p:cNvSpPr txBox="1"/>
          <p:nvPr/>
        </p:nvSpPr>
        <p:spPr>
          <a:xfrm>
            <a:off x="777240" y="1389888"/>
            <a:ext cx="4983480" cy="292608"/>
          </a:xfrm>
          <a:prstGeom prst="rect">
            <a:avLst/>
          </a:prstGeom>
          <a:noFill/>
        </p:spPr>
        <p:txBody>
          <a:bodyPr wrap="square" lIns="0" tIns="0" rIns="0" bIns="0" rtlCol="0" anchor="t"/>
          <a:lstStyle/>
          <a:p>
            <a:pPr marL="0" indent="0">
              <a:buNone/>
            </a:pPr>
            <a:r>
              <a:rPr lang="en-US" sz="1400" b="1" dirty="0">
                <a:solidFill>
                  <a:schemeClr val="accent2"/>
                </a:solidFill>
              </a:rPr>
              <a:t>1. FIFO creation and opening</a:t>
            </a:r>
            <a:endParaRPr lang="en-US" sz="1400" dirty="0"/>
          </a:p>
        </p:txBody>
      </p:sp>
      <p:sp>
        <p:nvSpPr>
          <p:cNvPr id="5" name="Text 3"/>
          <p:cNvSpPr txBox="1"/>
          <p:nvPr/>
        </p:nvSpPr>
        <p:spPr>
          <a:xfrm>
            <a:off x="777240" y="1755648"/>
            <a:ext cx="4983480" cy="1737360"/>
          </a:xfrm>
          <a:prstGeom prst="rect">
            <a:avLst/>
          </a:prstGeom>
          <a:noFill/>
        </p:spPr>
        <p:txBody>
          <a:bodyPr wrap="square" lIns="0" tIns="0" rIns="0" bIns="0" rtlCol="0" anchor="t"/>
          <a:lstStyle/>
          <a:p>
            <a:pPr marL="0" indent="0">
              <a:lnSpc>
                <a:spcPct val="105000"/>
              </a:lnSpc>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if (mkfifo(FIFO_A2B, 0666) == -1 &amp;&amp; errno != EEXIST) {</a:t>
            </a:r>
            <a:endParaRPr lang="en-US" sz="1100" dirty="0"/>
          </a:p>
          <a:p>
            <a:pPr marL="0" indent="0">
              <a:lnSpc>
                <a:spcPct val="105000"/>
              </a:lnSpc>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perror("mkfifo");</a:t>
            </a:r>
            <a:endParaRPr lang="en-US" sz="1100" dirty="0"/>
          </a:p>
          <a:p>
            <a:pPr marL="0" indent="0">
              <a:lnSpc>
                <a:spcPct val="105000"/>
              </a:lnSpc>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exit(EXIT_FAILURE);</a:t>
            </a:r>
            <a:endParaRPr lang="en-US" sz="1100" dirty="0"/>
          </a:p>
          <a:p>
            <a:pPr marL="0" indent="0">
              <a:lnSpc>
                <a:spcPct val="105000"/>
              </a:lnSpc>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a:t>
            </a:r>
            <a:endParaRPr lang="en-US" sz="1100" dirty="0"/>
          </a:p>
          <a:p>
            <a:pPr marL="0" indent="0">
              <a:lnSpc>
                <a:spcPct val="105000"/>
              </a:lnSpc>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Process A: write A-&gt;B, read B-&gt;A */</a:t>
            </a:r>
            <a:endParaRPr lang="en-US" sz="1100" dirty="0"/>
          </a:p>
          <a:p>
            <a:pPr marL="0" indent="0">
              <a:lnSpc>
                <a:spcPct val="105000"/>
              </a:lnSpc>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int wfd = open(FIFO_A2B, O_WRONLY);</a:t>
            </a:r>
            <a:endParaRPr lang="en-US" sz="1100" dirty="0"/>
          </a:p>
          <a:p>
            <a:pPr marL="0" indent="0">
              <a:lnSpc>
                <a:spcPct val="105000"/>
              </a:lnSpc>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int rfd = open(FIFO_B2A, O_RDONLY);</a:t>
            </a:r>
            <a:endParaRPr lang="en-US" sz="1100" dirty="0"/>
          </a:p>
        </p:txBody>
      </p:sp>
      <p:sp>
        <p:nvSpPr>
          <p:cNvPr id="6" name="Code box 2. Signal handlers"/>
          <p:cNvSpPr/>
          <p:nvPr/>
        </p:nvSpPr>
        <p:spPr>
          <a:xfrm>
            <a:off x="6199632" y="1280160"/>
            <a:ext cx="5440680" cy="2331720"/>
          </a:xfrm>
          <a:prstGeom prst="roundRect">
            <a:avLst>
              <a:gd name="adj" fmla="val 3922"/>
            </a:avLst>
          </a:prstGeom>
          <a:solidFill>
            <a:schemeClr val="accent6"/>
          </a:solidFill>
        </p:spPr>
      </p:sp>
      <p:sp>
        <p:nvSpPr>
          <p:cNvPr id="7" name="Text 5"/>
          <p:cNvSpPr txBox="1"/>
          <p:nvPr/>
        </p:nvSpPr>
        <p:spPr>
          <a:xfrm>
            <a:off x="6428232" y="1389888"/>
            <a:ext cx="4983480" cy="292608"/>
          </a:xfrm>
          <a:prstGeom prst="rect">
            <a:avLst/>
          </a:prstGeom>
          <a:noFill/>
        </p:spPr>
        <p:txBody>
          <a:bodyPr wrap="square" lIns="0" tIns="0" rIns="0" bIns="0" rtlCol="0" anchor="t"/>
          <a:lstStyle/>
          <a:p>
            <a:pPr marL="0" indent="0">
              <a:buNone/>
            </a:pPr>
            <a:r>
              <a:rPr lang="en-US" sz="1400" b="1" dirty="0">
                <a:solidFill>
                  <a:schemeClr val="accent2"/>
                </a:solidFill>
              </a:rPr>
              <a:t>2. Signal handlers</a:t>
            </a:r>
            <a:endParaRPr lang="en-US" sz="1400" dirty="0"/>
          </a:p>
        </p:txBody>
      </p:sp>
      <p:sp>
        <p:nvSpPr>
          <p:cNvPr id="8" name="Text 6"/>
          <p:cNvSpPr txBox="1"/>
          <p:nvPr/>
        </p:nvSpPr>
        <p:spPr>
          <a:xfrm>
            <a:off x="6428232" y="1755648"/>
            <a:ext cx="4983480" cy="1737360"/>
          </a:xfrm>
          <a:prstGeom prst="rect">
            <a:avLst/>
          </a:prstGeom>
          <a:noFill/>
        </p:spPr>
        <p:txBody>
          <a:bodyPr wrap="square" lIns="0" tIns="0" rIns="0" bIns="0" rtlCol="0" anchor="t"/>
          <a:lstStyle/>
          <a:p>
            <a:pPr marL="0" indent="0">
              <a:lnSpc>
                <a:spcPct val="105000"/>
              </a:lnSpc>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volatile sig_atomic_t running = 1;</a:t>
            </a:r>
            <a:endParaRPr lang="en-US" sz="1100" dirty="0"/>
          </a:p>
          <a:p>
            <a:pPr marL="0" indent="0">
              <a:lnSpc>
                <a:spcPct val="105000"/>
              </a:lnSpc>
              <a:buNone/>
            </a:pPr>
            <a:endParaRPr lang="en-US" sz="1100" dirty="0"/>
          </a:p>
          <a:p>
            <a:pPr marL="0" indent="0">
              <a:lnSpc>
                <a:spcPct val="105000"/>
              </a:lnSpc>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void handle_sig(int sig) { running = 0; }</a:t>
            </a:r>
            <a:endParaRPr lang="en-US" sz="1100" dirty="0"/>
          </a:p>
          <a:p>
            <a:pPr marL="0" indent="0">
              <a:lnSpc>
                <a:spcPct val="105000"/>
              </a:lnSpc>
              <a:buNone/>
            </a:pPr>
            <a:endParaRPr lang="en-US" sz="1100" dirty="0"/>
          </a:p>
          <a:p>
            <a:pPr marL="0" indent="0">
              <a:lnSpc>
                <a:spcPct val="105000"/>
              </a:lnSpc>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signal(SIGINT,  handle_sig);</a:t>
            </a:r>
            <a:endParaRPr lang="en-US" sz="1100" dirty="0"/>
          </a:p>
          <a:p>
            <a:pPr marL="0" indent="0">
              <a:lnSpc>
                <a:spcPct val="105000"/>
              </a:lnSpc>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signal(SIGTERM, handle_sig);</a:t>
            </a:r>
            <a:endParaRPr lang="en-US" sz="1100" dirty="0"/>
          </a:p>
          <a:p>
            <a:pPr marL="0" indent="0">
              <a:lnSpc>
                <a:spcPct val="105000"/>
              </a:lnSpc>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signal(SIGPIPE, SIG_IGN);  /* peer closed FIFO */</a:t>
            </a:r>
            <a:endParaRPr lang="en-US" sz="1100" dirty="0"/>
          </a:p>
        </p:txBody>
      </p:sp>
      <p:sp>
        <p:nvSpPr>
          <p:cNvPr id="9" name="Code box 3. Message transfer with select()"/>
          <p:cNvSpPr/>
          <p:nvPr/>
        </p:nvSpPr>
        <p:spPr>
          <a:xfrm>
            <a:off x="548640" y="3749040"/>
            <a:ext cx="5440680" cy="2331720"/>
          </a:xfrm>
          <a:prstGeom prst="roundRect">
            <a:avLst>
              <a:gd name="adj" fmla="val 3922"/>
            </a:avLst>
          </a:prstGeom>
          <a:solidFill>
            <a:schemeClr val="accent6"/>
          </a:solidFill>
        </p:spPr>
      </p:sp>
      <p:sp>
        <p:nvSpPr>
          <p:cNvPr id="10" name="Text 8"/>
          <p:cNvSpPr txBox="1"/>
          <p:nvPr/>
        </p:nvSpPr>
        <p:spPr>
          <a:xfrm>
            <a:off x="777240" y="3858768"/>
            <a:ext cx="4983480" cy="292608"/>
          </a:xfrm>
          <a:prstGeom prst="rect">
            <a:avLst/>
          </a:prstGeom>
          <a:noFill/>
        </p:spPr>
        <p:txBody>
          <a:bodyPr wrap="square" lIns="0" tIns="0" rIns="0" bIns="0" rtlCol="0" anchor="t"/>
          <a:lstStyle/>
          <a:p>
            <a:pPr marL="0" indent="0">
              <a:buNone/>
            </a:pPr>
            <a:r>
              <a:rPr lang="en-US" sz="1400" b="1" dirty="0">
                <a:solidFill>
                  <a:schemeClr val="accent2"/>
                </a:solidFill>
              </a:rPr>
              <a:t>3. Message transfer with select()</a:t>
            </a:r>
            <a:endParaRPr lang="en-US" sz="1400" dirty="0"/>
          </a:p>
        </p:txBody>
      </p:sp>
      <p:sp>
        <p:nvSpPr>
          <p:cNvPr id="11" name="Text 9"/>
          <p:cNvSpPr txBox="1"/>
          <p:nvPr/>
        </p:nvSpPr>
        <p:spPr>
          <a:xfrm>
            <a:off x="777240" y="4224528"/>
            <a:ext cx="4983480" cy="1737360"/>
          </a:xfrm>
          <a:prstGeom prst="rect">
            <a:avLst/>
          </a:prstGeom>
          <a:noFill/>
        </p:spPr>
        <p:txBody>
          <a:bodyPr wrap="square" lIns="0" tIns="0" rIns="0" bIns="0" rtlCol="0" anchor="t"/>
          <a:lstStyle/>
          <a:p>
            <a:pPr marL="0" indent="0">
              <a:lnSpc>
                <a:spcPct val="105000"/>
              </a:lnSpc>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FD_ZERO(&amp;rd);</a:t>
            </a:r>
            <a:endParaRPr lang="en-US" sz="1100" dirty="0"/>
          </a:p>
          <a:p>
            <a:pPr marL="0" indent="0">
              <a:lnSpc>
                <a:spcPct val="105000"/>
              </a:lnSpc>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FD_SET(STDIN_FILENO, &amp;rd);  FD_SET(rfd, &amp;rd);</a:t>
            </a:r>
            <a:endParaRPr lang="en-US" sz="1100" dirty="0"/>
          </a:p>
          <a:p>
            <a:pPr marL="0" indent="0">
              <a:lnSpc>
                <a:spcPct val="105000"/>
              </a:lnSpc>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select(maxfd + 1, &amp;rd, NULL, NULL, NULL);</a:t>
            </a:r>
            <a:endParaRPr lang="en-US" sz="1100" dirty="0"/>
          </a:p>
          <a:p>
            <a:pPr marL="0" indent="0">
              <a:lnSpc>
                <a:spcPct val="105000"/>
              </a:lnSpc>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if (FD_ISSET(STDIN_FILENO, &amp;rd)) {</a:t>
            </a:r>
            <a:endParaRPr lang="en-US" sz="1100" dirty="0"/>
          </a:p>
          <a:p>
            <a:pPr marL="0" indent="0">
              <a:lnSpc>
                <a:spcPct val="105000"/>
              </a:lnSpc>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n = read(STDIN_FILENO, buf, BUF_SIZE - 1);</a:t>
            </a:r>
            <a:endParaRPr lang="en-US" sz="1100" dirty="0"/>
          </a:p>
          <a:p>
            <a:pPr marL="0" indent="0">
              <a:lnSpc>
                <a:spcPct val="105000"/>
              </a:lnSpc>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write(wfd, buf, n);     /* send to peer */</a:t>
            </a:r>
            <a:endParaRPr lang="en-US" sz="1100" dirty="0"/>
          </a:p>
          <a:p>
            <a:pPr marL="0" indent="0">
              <a:lnSpc>
                <a:spcPct val="105000"/>
              </a:lnSpc>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a:t>
            </a:r>
            <a:endParaRPr lang="en-US" sz="1100" dirty="0"/>
          </a:p>
        </p:txBody>
      </p:sp>
      <p:sp>
        <p:nvSpPr>
          <p:cNvPr id="12" name="Code box 4. /quit and disconnection"/>
          <p:cNvSpPr/>
          <p:nvPr/>
        </p:nvSpPr>
        <p:spPr>
          <a:xfrm>
            <a:off x="6199632" y="3749040"/>
            <a:ext cx="5440680" cy="2331720"/>
          </a:xfrm>
          <a:prstGeom prst="roundRect">
            <a:avLst>
              <a:gd name="adj" fmla="val 3922"/>
            </a:avLst>
          </a:prstGeom>
          <a:solidFill>
            <a:schemeClr val="accent6"/>
          </a:solidFill>
        </p:spPr>
      </p:sp>
      <p:sp>
        <p:nvSpPr>
          <p:cNvPr id="13" name="Text 11"/>
          <p:cNvSpPr txBox="1"/>
          <p:nvPr/>
        </p:nvSpPr>
        <p:spPr>
          <a:xfrm>
            <a:off x="6428232" y="3858768"/>
            <a:ext cx="4983480" cy="292608"/>
          </a:xfrm>
          <a:prstGeom prst="rect">
            <a:avLst/>
          </a:prstGeom>
          <a:noFill/>
        </p:spPr>
        <p:txBody>
          <a:bodyPr wrap="square" lIns="0" tIns="0" rIns="0" bIns="0" rtlCol="0" anchor="t"/>
          <a:lstStyle/>
          <a:p>
            <a:pPr marL="0" indent="0">
              <a:buNone/>
            </a:pPr>
            <a:r>
              <a:rPr lang="en-US" sz="1400" b="1" dirty="0">
                <a:solidFill>
                  <a:schemeClr val="accent2"/>
                </a:solidFill>
              </a:rPr>
              <a:t>4. /quit and disconnection</a:t>
            </a:r>
            <a:endParaRPr lang="en-US" sz="1400" dirty="0"/>
          </a:p>
        </p:txBody>
      </p:sp>
      <p:sp>
        <p:nvSpPr>
          <p:cNvPr id="14" name="Text 12"/>
          <p:cNvSpPr txBox="1"/>
          <p:nvPr/>
        </p:nvSpPr>
        <p:spPr>
          <a:xfrm>
            <a:off x="6428232" y="4224528"/>
            <a:ext cx="4983480" cy="1737360"/>
          </a:xfrm>
          <a:prstGeom prst="rect">
            <a:avLst/>
          </a:prstGeom>
          <a:noFill/>
        </p:spPr>
        <p:txBody>
          <a:bodyPr wrap="square" lIns="0" tIns="0" rIns="0" bIns="0" rtlCol="0" anchor="t"/>
          <a:lstStyle/>
          <a:p>
            <a:pPr marL="0" indent="0">
              <a:lnSpc>
                <a:spcPct val="105000"/>
              </a:lnSpc>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buf[n] = '\0';</a:t>
            </a:r>
            <a:endParaRPr lang="en-US" sz="1100" dirty="0"/>
          </a:p>
          <a:p>
            <a:pPr marL="0" indent="0">
              <a:lnSpc>
                <a:spcPct val="105000"/>
              </a:lnSpc>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if (strncmp(buf, "/quit", 5) == 0) {</a:t>
            </a:r>
            <a:endParaRPr lang="en-US" sz="1100" dirty="0"/>
          </a:p>
          <a:p>
            <a:pPr marL="0" indent="0">
              <a:lnSpc>
                <a:spcPct val="105000"/>
              </a:lnSpc>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write(wfd, buf, n);     /* notify peer */</a:t>
            </a:r>
            <a:endParaRPr lang="en-US" sz="1100" dirty="0"/>
          </a:p>
          <a:p>
            <a:pPr marL="0" indent="0">
              <a:lnSpc>
                <a:spcPct val="105000"/>
              </a:lnSpc>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running = 0;</a:t>
            </a:r>
            <a:endParaRPr lang="en-US" sz="1100" dirty="0"/>
          </a:p>
          <a:p>
            <a:pPr marL="0" indent="0">
              <a:lnSpc>
                <a:spcPct val="105000"/>
              </a:lnSpc>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a:t>
            </a:r>
            <a:endParaRPr lang="en-US" sz="1100" dirty="0"/>
          </a:p>
          <a:p>
            <a:pPr marL="0" indent="0">
              <a:lnSpc>
                <a:spcPct val="105000"/>
              </a:lnSpc>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if (n == 0) running = 0;    /* peer disconnected */</a:t>
            </a:r>
            <a:endParaRPr lang="en-US" sz="1100" dirty="0"/>
          </a:p>
          <a:p>
            <a:pPr marL="0" indent="0">
              <a:lnSpc>
                <a:spcPct val="105000"/>
              </a:lnSpc>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close(rfd);  close(wfd);</a:t>
            </a:r>
            <a:endParaRPr lang="en-US" sz="1100" dirty="0"/>
          </a:p>
        </p:txBody>
      </p:sp>
      <p:sp>
        <p:nvSpPr>
          <p:cNvPr id="15" name="Text 13"/>
          <p:cNvSpPr txBox="1"/>
          <p:nvPr/>
        </p:nvSpPr>
        <p:spPr>
          <a:xfrm>
            <a:off x="548640" y="6108192"/>
            <a:ext cx="11091672" cy="256032"/>
          </a:xfrm>
          <a:prstGeom prst="rect">
            <a:avLst/>
          </a:prstGeom>
          <a:noFill/>
        </p:spPr>
        <p:txBody>
          <a:bodyPr wrap="square" lIns="0" tIns="0" rIns="0" bIns="0" rtlCol="0" anchor="t"/>
          <a:lstStyle/>
          <a:p>
            <a:pPr marL="0" indent="0">
              <a:buNone/>
            </a:pPr>
            <a:r>
              <a:rPr lang="en-US" sz="1000" i="1" dirty="0">
                <a:solidFill>
                  <a:schemeClr val="accent5"/>
                </a:solidFill>
              </a:rPr>
              <a:t>Representative snippets built from the functions listed in this project; match names and constants to your source file before presenting.</a:t>
            </a:r>
            <a:endParaRPr lang="en-US" sz="1000" dirty="0"/>
          </a:p>
        </p:txBody>
      </p:sp>
      <p:sp>
        <p:nvSpPr>
          <p:cNvPr id="25" name="Slide Number Placeholder 0"/>
          <p:cNvSpPr>
            <a:spLocks noGrp="1"/>
          </p:cNvSpPr>
          <p:nvPr>
            <p:ph type="sldNum" sz="quarter" idx="4294967295"/>
          </p:nvPr>
        </p:nvSpPr>
        <p:spPr>
          <a:xfrm>
            <a:off x="10972800" y="6382512"/>
            <a:ext cx="667512" cy="274320"/>
          </a:xfrm>
          <a:prstGeom prst="rect">
            <a:avLst/>
          </a:prstGeom>
        </p:spPr>
        <p:txBody>
          <a:bodyPr/>
          <a:lstStyle>
            <a:lvl1pPr>
              <a:defRPr sz="1000">
                <a:solidFill>
                  <a:schemeClr val="accent5"/>
                </a:solidFill>
              </a:defRPr>
            </a:lvl1pPr>
          </a:lstStyle>
          <a:p>
            <a:pPr algn="r"/>
            <a:fld id="{F7021451-1387-4CA6-816F-3879F97B5CBC}" type="slidenum">
              <a:rPr lang="en-US" b="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548640" y="320040"/>
            <a:ext cx="11091672" cy="777240"/>
          </a:xfrm>
          <a:prstGeom prst="rect">
            <a:avLst/>
          </a:prstGeom>
          <a:noFill/>
        </p:spPr>
        <p:txBody>
          <a:bodyPr wrap="square" lIns="0" tIns="0" rIns="0" bIns="0" rtlCol="0" anchor="ctr"/>
          <a:lstStyle/>
          <a:p>
            <a:pPr marL="0" indent="0" algn="l">
              <a:buNone/>
            </a:pPr>
            <a:r>
              <a:rPr lang="en-US" sz="3200" b="1" dirty="0">
                <a:solidFill>
                  <a:schemeClr val="tx2"/>
                </a:solidFill>
              </a:rPr>
              <a:t>Sample Execution and Output</a:t>
            </a:r>
            <a:endParaRPr lang="en-US" sz="3200" dirty="0"/>
          </a:p>
        </p:txBody>
      </p:sp>
      <p:sp>
        <p:nvSpPr>
          <p:cNvPr id="3" name="Terminal 1: Process A terminal"/>
          <p:cNvSpPr/>
          <p:nvPr/>
        </p:nvSpPr>
        <p:spPr>
          <a:xfrm>
            <a:off x="548640" y="1280160"/>
            <a:ext cx="5440680" cy="4526280"/>
          </a:xfrm>
          <a:prstGeom prst="roundRect">
            <a:avLst>
              <a:gd name="adj" fmla="val 2020"/>
            </a:avLst>
          </a:prstGeom>
          <a:solidFill>
            <a:schemeClr val="accent6"/>
          </a:solidFill>
        </p:spPr>
      </p:sp>
      <p:sp>
        <p:nvSpPr>
          <p:cNvPr id="4" name="Terminal 1: Process A title bar"/>
          <p:cNvSpPr/>
          <p:nvPr/>
        </p:nvSpPr>
        <p:spPr>
          <a:xfrm>
            <a:off x="548640" y="1280160"/>
            <a:ext cx="5440680" cy="384048"/>
          </a:xfrm>
          <a:prstGeom prst="roundRect">
            <a:avLst>
              <a:gd name="adj" fmla="val 23810"/>
            </a:avLst>
          </a:prstGeom>
          <a:solidFill>
            <a:schemeClr val="accent4"/>
          </a:solidFill>
        </p:spPr>
      </p:sp>
      <p:sp>
        <p:nvSpPr>
          <p:cNvPr id="5" name="Window dot"/>
          <p:cNvSpPr/>
          <p:nvPr/>
        </p:nvSpPr>
        <p:spPr>
          <a:xfrm>
            <a:off x="731520" y="1399032"/>
            <a:ext cx="146304" cy="146304"/>
          </a:xfrm>
          <a:prstGeom prst="ellipse">
            <a:avLst/>
          </a:prstGeom>
          <a:solidFill>
            <a:schemeClr val="accent2"/>
          </a:solidFill>
        </p:spPr>
      </p:sp>
      <p:sp>
        <p:nvSpPr>
          <p:cNvPr id="6" name="Window dot"/>
          <p:cNvSpPr/>
          <p:nvPr/>
        </p:nvSpPr>
        <p:spPr>
          <a:xfrm>
            <a:off x="960120" y="1399032"/>
            <a:ext cx="146304" cy="146304"/>
          </a:xfrm>
          <a:prstGeom prst="ellipse">
            <a:avLst/>
          </a:prstGeom>
          <a:solidFill>
            <a:schemeClr val="accent2"/>
          </a:solidFill>
        </p:spPr>
      </p:sp>
      <p:sp>
        <p:nvSpPr>
          <p:cNvPr id="7" name="Window dot"/>
          <p:cNvSpPr/>
          <p:nvPr/>
        </p:nvSpPr>
        <p:spPr>
          <a:xfrm>
            <a:off x="1188720" y="1399032"/>
            <a:ext cx="146304" cy="146304"/>
          </a:xfrm>
          <a:prstGeom prst="ellipse">
            <a:avLst/>
          </a:prstGeom>
          <a:solidFill>
            <a:schemeClr val="accent2"/>
          </a:solidFill>
        </p:spPr>
      </p:sp>
      <p:sp>
        <p:nvSpPr>
          <p:cNvPr id="8" name="Text 6"/>
          <p:cNvSpPr txBox="1"/>
          <p:nvPr/>
        </p:nvSpPr>
        <p:spPr>
          <a:xfrm>
            <a:off x="1554480" y="1280160"/>
            <a:ext cx="4114800" cy="384048"/>
          </a:xfrm>
          <a:prstGeom prst="rect">
            <a:avLst/>
          </a:prstGeom>
          <a:noFill/>
        </p:spPr>
        <p:txBody>
          <a:bodyPr wrap="square" lIns="0" tIns="0" rIns="0" bIns="0" rtlCol="0" anchor="ctr"/>
          <a:lstStyle/>
          <a:p>
            <a:pPr marL="0" indent="0">
              <a:buNone/>
            </a:pPr>
            <a:r>
              <a:rPr lang="en-US" sz="1200" b="1" dirty="0">
                <a:solidFill>
                  <a:schemeClr val="bg1"/>
                </a:solidFill>
              </a:rPr>
              <a:t>Terminal 1: Process A</a:t>
            </a:r>
            <a:endParaRPr lang="en-US" sz="1200" dirty="0"/>
          </a:p>
        </p:txBody>
      </p:sp>
      <p:sp>
        <p:nvSpPr>
          <p:cNvPr id="9" name="Text 7"/>
          <p:cNvSpPr txBox="1"/>
          <p:nvPr/>
        </p:nvSpPr>
        <p:spPr>
          <a:xfrm>
            <a:off x="777240" y="1874520"/>
            <a:ext cx="5029200" cy="3794760"/>
          </a:xfrm>
          <a:prstGeom prst="rect">
            <a:avLst/>
          </a:prstGeom>
          <a:noFill/>
        </p:spPr>
        <p:txBody>
          <a:bodyPr wrap="square" lIns="0" tIns="0" rIns="0" bIns="0" rtlCol="0" anchor="t"/>
          <a:lstStyle/>
          <a:p>
            <a:pPr marL="0" indent="0">
              <a:spcAft>
                <a:spcPts val="500"/>
              </a:spcAft>
              <a:buNone/>
            </a:pPr>
            <a:r>
              <a:rPr lang="en-US" sz="13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 ./process_a</a:t>
            </a:r>
            <a:endParaRPr lang="en-US" sz="1300" dirty="0"/>
          </a:p>
          <a:p>
            <a:pPr marL="0" indent="0">
              <a:spcAft>
                <a:spcPts val="500"/>
              </a:spcAft>
              <a:buNone/>
            </a:pPr>
            <a:r>
              <a:rPr lang="en-US" sz="1300"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[A] FIFOs ready. Waiting for peer...</a:t>
            </a:r>
            <a:endParaRPr lang="en-US" sz="1300" dirty="0"/>
          </a:p>
          <a:p>
            <a:pPr marL="0" indent="0">
              <a:spcAft>
                <a:spcPts val="500"/>
              </a:spcAft>
              <a:buNone/>
            </a:pPr>
            <a:r>
              <a:rPr lang="en-US" sz="1300"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[A] Connected. Type /quit to exit.</a:t>
            </a:r>
            <a:endParaRPr lang="en-US" sz="1300" dirty="0"/>
          </a:p>
          <a:p>
            <a:pPr marL="0" indent="0">
              <a:spcAft>
                <a:spcPts val="500"/>
              </a:spcAft>
              <a:buNone/>
            </a:pPr>
            <a:r>
              <a:rPr lang="en-US" sz="1300"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You: Hello B, are you there?</a:t>
            </a:r>
            <a:endParaRPr lang="en-US" sz="1300" dirty="0"/>
          </a:p>
          <a:p>
            <a:pPr marL="0" indent="0">
              <a:spcAft>
                <a:spcPts val="500"/>
              </a:spcAft>
              <a:buNone/>
            </a:pPr>
            <a:r>
              <a:rPr lang="en-US" sz="13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B:   Hi A! Connection established.</a:t>
            </a:r>
            <a:endParaRPr lang="en-US" sz="1300" dirty="0"/>
          </a:p>
          <a:p>
            <a:pPr marL="0" indent="0">
              <a:spcAft>
                <a:spcPts val="500"/>
              </a:spcAft>
              <a:buNone/>
            </a:pPr>
            <a:r>
              <a:rPr lang="en-US" sz="1300"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You: Sending test message #2</a:t>
            </a:r>
            <a:endParaRPr lang="en-US" sz="1300" dirty="0"/>
          </a:p>
          <a:p>
            <a:pPr marL="0" indent="0">
              <a:spcAft>
                <a:spcPts val="500"/>
              </a:spcAft>
              <a:buNone/>
            </a:pPr>
            <a:r>
              <a:rPr lang="en-US" sz="13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B:   Got it. Ready to disconnect.</a:t>
            </a:r>
            <a:endParaRPr lang="en-US" sz="1300" dirty="0"/>
          </a:p>
          <a:p>
            <a:pPr marL="0" indent="0">
              <a:spcAft>
                <a:spcPts val="500"/>
              </a:spcAft>
              <a:buNone/>
            </a:pPr>
            <a:r>
              <a:rPr lang="en-US" sz="1300"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You: /quit</a:t>
            </a:r>
            <a:endParaRPr lang="en-US" sz="1300" dirty="0"/>
          </a:p>
          <a:p>
            <a:pPr marL="0" indent="0">
              <a:spcAft>
                <a:spcPts val="500"/>
              </a:spcAft>
              <a:buNone/>
            </a:pPr>
            <a:r>
              <a:rPr lang="en-US" sz="1300"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[A] Disconnecting. FIFOs closed.</a:t>
            </a:r>
            <a:endParaRPr lang="en-US" sz="1300" dirty="0"/>
          </a:p>
          <a:p>
            <a:pPr marL="0" indent="0">
              <a:spcAft>
                <a:spcPts val="500"/>
              </a:spcAft>
              <a:buNone/>
            </a:pPr>
            <a:r>
              <a:rPr lang="en-US" sz="13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 _</a:t>
            </a:r>
            <a:endParaRPr lang="en-US" sz="1300" dirty="0"/>
          </a:p>
        </p:txBody>
      </p:sp>
      <p:sp>
        <p:nvSpPr>
          <p:cNvPr id="10" name="Terminal 2: Process B terminal"/>
          <p:cNvSpPr/>
          <p:nvPr/>
        </p:nvSpPr>
        <p:spPr>
          <a:xfrm>
            <a:off x="6199632" y="1280160"/>
            <a:ext cx="5440680" cy="4526280"/>
          </a:xfrm>
          <a:prstGeom prst="roundRect">
            <a:avLst>
              <a:gd name="adj" fmla="val 2020"/>
            </a:avLst>
          </a:prstGeom>
          <a:solidFill>
            <a:schemeClr val="accent6"/>
          </a:solidFill>
        </p:spPr>
      </p:sp>
      <p:sp>
        <p:nvSpPr>
          <p:cNvPr id="11" name="Terminal 2: Process B title bar"/>
          <p:cNvSpPr/>
          <p:nvPr/>
        </p:nvSpPr>
        <p:spPr>
          <a:xfrm>
            <a:off x="6199632" y="1280160"/>
            <a:ext cx="5440680" cy="384048"/>
          </a:xfrm>
          <a:prstGeom prst="roundRect">
            <a:avLst>
              <a:gd name="adj" fmla="val 23810"/>
            </a:avLst>
          </a:prstGeom>
          <a:solidFill>
            <a:schemeClr val="accent4"/>
          </a:solidFill>
        </p:spPr>
      </p:sp>
      <p:sp>
        <p:nvSpPr>
          <p:cNvPr id="12" name="Window dot"/>
          <p:cNvSpPr/>
          <p:nvPr/>
        </p:nvSpPr>
        <p:spPr>
          <a:xfrm>
            <a:off x="6382512" y="1399032"/>
            <a:ext cx="146304" cy="146304"/>
          </a:xfrm>
          <a:prstGeom prst="ellipse">
            <a:avLst/>
          </a:prstGeom>
          <a:solidFill>
            <a:schemeClr val="accent2"/>
          </a:solidFill>
        </p:spPr>
      </p:sp>
      <p:sp>
        <p:nvSpPr>
          <p:cNvPr id="13" name="Window dot"/>
          <p:cNvSpPr/>
          <p:nvPr/>
        </p:nvSpPr>
        <p:spPr>
          <a:xfrm>
            <a:off x="6611112" y="1399032"/>
            <a:ext cx="146304" cy="146304"/>
          </a:xfrm>
          <a:prstGeom prst="ellipse">
            <a:avLst/>
          </a:prstGeom>
          <a:solidFill>
            <a:schemeClr val="accent2"/>
          </a:solidFill>
        </p:spPr>
      </p:sp>
      <p:sp>
        <p:nvSpPr>
          <p:cNvPr id="14" name="Window dot"/>
          <p:cNvSpPr/>
          <p:nvPr/>
        </p:nvSpPr>
        <p:spPr>
          <a:xfrm>
            <a:off x="6839712" y="1399032"/>
            <a:ext cx="146304" cy="146304"/>
          </a:xfrm>
          <a:prstGeom prst="ellipse">
            <a:avLst/>
          </a:prstGeom>
          <a:solidFill>
            <a:schemeClr val="accent2"/>
          </a:solidFill>
        </p:spPr>
      </p:sp>
      <p:sp>
        <p:nvSpPr>
          <p:cNvPr id="15" name="Text 13"/>
          <p:cNvSpPr txBox="1"/>
          <p:nvPr/>
        </p:nvSpPr>
        <p:spPr>
          <a:xfrm>
            <a:off x="7205472" y="1280160"/>
            <a:ext cx="4114800" cy="384048"/>
          </a:xfrm>
          <a:prstGeom prst="rect">
            <a:avLst/>
          </a:prstGeom>
          <a:noFill/>
        </p:spPr>
        <p:txBody>
          <a:bodyPr wrap="square" lIns="0" tIns="0" rIns="0" bIns="0" rtlCol="0" anchor="ctr"/>
          <a:lstStyle/>
          <a:p>
            <a:pPr marL="0" indent="0">
              <a:buNone/>
            </a:pPr>
            <a:r>
              <a:rPr lang="en-US" sz="1200" b="1" dirty="0">
                <a:solidFill>
                  <a:schemeClr val="bg1"/>
                </a:solidFill>
              </a:rPr>
              <a:t>Terminal 2: Process B</a:t>
            </a:r>
            <a:endParaRPr lang="en-US" sz="1200" dirty="0"/>
          </a:p>
        </p:txBody>
      </p:sp>
      <p:sp>
        <p:nvSpPr>
          <p:cNvPr id="16" name="Text 14"/>
          <p:cNvSpPr txBox="1"/>
          <p:nvPr/>
        </p:nvSpPr>
        <p:spPr>
          <a:xfrm>
            <a:off x="6428232" y="1874520"/>
            <a:ext cx="5029200" cy="3794760"/>
          </a:xfrm>
          <a:prstGeom prst="rect">
            <a:avLst/>
          </a:prstGeom>
          <a:noFill/>
        </p:spPr>
        <p:txBody>
          <a:bodyPr wrap="square" lIns="0" tIns="0" rIns="0" bIns="0" rtlCol="0" anchor="t"/>
          <a:lstStyle/>
          <a:p>
            <a:pPr marL="0" indent="0">
              <a:spcAft>
                <a:spcPts val="500"/>
              </a:spcAft>
              <a:buNone/>
            </a:pPr>
            <a:r>
              <a:rPr lang="en-US" sz="13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 ./process_b</a:t>
            </a:r>
            <a:endParaRPr lang="en-US" sz="1300" dirty="0"/>
          </a:p>
          <a:p>
            <a:pPr marL="0" indent="0">
              <a:spcAft>
                <a:spcPts val="500"/>
              </a:spcAft>
              <a:buNone/>
            </a:pPr>
            <a:r>
              <a:rPr lang="en-US" sz="1300"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[B] FIFOs ready. Waiting for peer...</a:t>
            </a:r>
            <a:endParaRPr lang="en-US" sz="1300" dirty="0"/>
          </a:p>
          <a:p>
            <a:pPr marL="0" indent="0">
              <a:spcAft>
                <a:spcPts val="500"/>
              </a:spcAft>
              <a:buNone/>
            </a:pPr>
            <a:r>
              <a:rPr lang="en-US" sz="1300"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[B] Connected. Type /quit to exit.</a:t>
            </a:r>
            <a:endParaRPr lang="en-US" sz="1300" dirty="0"/>
          </a:p>
          <a:p>
            <a:pPr marL="0" indent="0">
              <a:spcAft>
                <a:spcPts val="500"/>
              </a:spcAft>
              <a:buNone/>
            </a:pPr>
            <a:r>
              <a:rPr lang="en-US" sz="13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A:   Hello B, are you there?</a:t>
            </a:r>
            <a:endParaRPr lang="en-US" sz="1300" dirty="0"/>
          </a:p>
          <a:p>
            <a:pPr marL="0" indent="0">
              <a:spcAft>
                <a:spcPts val="500"/>
              </a:spcAft>
              <a:buNone/>
            </a:pPr>
            <a:r>
              <a:rPr lang="en-US" sz="1300"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You: Hi A! Connection established.</a:t>
            </a:r>
            <a:endParaRPr lang="en-US" sz="1300" dirty="0"/>
          </a:p>
          <a:p>
            <a:pPr marL="0" indent="0">
              <a:spcAft>
                <a:spcPts val="500"/>
              </a:spcAft>
              <a:buNone/>
            </a:pPr>
            <a:r>
              <a:rPr lang="en-US" sz="13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A:   Sending test message #2</a:t>
            </a:r>
            <a:endParaRPr lang="en-US" sz="1300" dirty="0"/>
          </a:p>
          <a:p>
            <a:pPr marL="0" indent="0">
              <a:spcAft>
                <a:spcPts val="500"/>
              </a:spcAft>
              <a:buNone/>
            </a:pPr>
            <a:r>
              <a:rPr lang="en-US" sz="1300"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You: Got it. Ready to disconnect.</a:t>
            </a:r>
            <a:endParaRPr lang="en-US" sz="1300" dirty="0"/>
          </a:p>
          <a:p>
            <a:pPr marL="0" indent="0">
              <a:spcAft>
                <a:spcPts val="500"/>
              </a:spcAft>
              <a:buNone/>
            </a:pPr>
            <a:r>
              <a:rPr lang="en-US" sz="13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A:   /quit</a:t>
            </a:r>
            <a:endParaRPr lang="en-US" sz="1300" dirty="0"/>
          </a:p>
          <a:p>
            <a:pPr marL="0" indent="0">
              <a:spcAft>
                <a:spcPts val="500"/>
              </a:spcAft>
              <a:buNone/>
            </a:pPr>
            <a:r>
              <a:rPr lang="en-US" sz="1300"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[B] Peer disconnected. Exiting.</a:t>
            </a:r>
            <a:endParaRPr lang="en-US" sz="1300" dirty="0"/>
          </a:p>
          <a:p>
            <a:pPr marL="0" indent="0">
              <a:spcAft>
                <a:spcPts val="500"/>
              </a:spcAft>
              <a:buNone/>
            </a:pPr>
            <a:r>
              <a:rPr lang="en-US" sz="13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 _</a:t>
            </a:r>
            <a:endParaRPr lang="en-US" sz="1300" dirty="0"/>
          </a:p>
        </p:txBody>
      </p:sp>
      <p:sp>
        <p:nvSpPr>
          <p:cNvPr id="17" name="Text 15"/>
          <p:cNvSpPr txBox="1"/>
          <p:nvPr/>
        </p:nvSpPr>
        <p:spPr>
          <a:xfrm>
            <a:off x="548640" y="5943600"/>
            <a:ext cx="11091672" cy="274320"/>
          </a:xfrm>
          <a:prstGeom prst="rect">
            <a:avLst/>
          </a:prstGeom>
          <a:noFill/>
        </p:spPr>
        <p:txBody>
          <a:bodyPr wrap="square" lIns="0" tIns="0" rIns="0" bIns="0" rtlCol="0" anchor="t"/>
          <a:lstStyle/>
          <a:p>
            <a:pPr marL="0" indent="0" algn="ctr">
              <a:buNone/>
            </a:pPr>
            <a:r>
              <a:rPr lang="en-US" sz="1200" i="1" dirty="0">
                <a:solidFill>
                  <a:schemeClr val="accent5"/>
                </a:solidFill>
              </a:rPr>
              <a:t>Illustrative output. Replace with screenshots from your own run for the final submission.</a:t>
            </a:r>
            <a:endParaRPr lang="en-US" sz="1200" dirty="0"/>
          </a:p>
        </p:txBody>
      </p:sp>
      <p:sp>
        <p:nvSpPr>
          <p:cNvPr id="25" name="Slide Number Placeholder 0"/>
          <p:cNvSpPr>
            <a:spLocks noGrp="1"/>
          </p:cNvSpPr>
          <p:nvPr>
            <p:ph type="sldNum" sz="quarter" idx="4294967295"/>
          </p:nvPr>
        </p:nvSpPr>
        <p:spPr>
          <a:xfrm>
            <a:off x="10972800" y="6382512"/>
            <a:ext cx="667512" cy="274320"/>
          </a:xfrm>
          <a:prstGeom prst="rect">
            <a:avLst/>
          </a:prstGeom>
        </p:spPr>
        <p:txBody>
          <a:bodyPr/>
          <a:lstStyle>
            <a:lvl1pPr>
              <a:defRPr sz="1000">
                <a:solidFill>
                  <a:schemeClr val="accent5"/>
                </a:solidFill>
              </a:defRPr>
            </a:lvl1pPr>
          </a:lstStyle>
          <a:p>
            <a:pPr algn="r"/>
            <a:fld id="{F7021451-1387-4CA6-816F-3879F97B5CBC}" type="slidenum">
              <a:rPr lang="en-US" b="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548640" y="320040"/>
            <a:ext cx="11091672" cy="777240"/>
          </a:xfrm>
          <a:prstGeom prst="rect">
            <a:avLst/>
          </a:prstGeom>
          <a:noFill/>
        </p:spPr>
        <p:txBody>
          <a:bodyPr wrap="square" lIns="0" tIns="0" rIns="0" bIns="0" rtlCol="0" anchor="ctr"/>
          <a:lstStyle/>
          <a:p>
            <a:pPr marL="0" indent="0" algn="l">
              <a:buNone/>
            </a:pPr>
            <a:r>
              <a:rPr lang="en-US" sz="3200" b="1" dirty="0">
                <a:solidFill>
                  <a:schemeClr val="tx2"/>
                </a:solidFill>
              </a:rPr>
              <a:t>Operating Systems CO Mapping</a:t>
            </a:r>
            <a:endParaRPr lang="en-US" sz="3200" dirty="0"/>
          </a:p>
        </p:txBody>
      </p:sp>
      <p:graphicFrame>
        <p:nvGraphicFramePr>
          <p:cNvPr id="12" name="CO mapping table"/>
          <p:cNvGraphicFramePr>
            <a:graphicFrameLocks noGrp="1"/>
          </p:cNvGraphicFramePr>
          <p:nvPr/>
        </p:nvGraphicFramePr>
        <p:xfrm>
          <a:off x="548640" y="1280160"/>
          <a:ext cx="11091672" cy="4736592"/>
        </p:xfrm>
        <a:graphic>
          <a:graphicData uri="http://schemas.openxmlformats.org/drawingml/2006/table">
            <a:tbl>
              <a:tblPr/>
              <a:tblGrid>
                <a:gridCol w="777240"/>
                <a:gridCol w="4572000"/>
                <a:gridCol w="4206240"/>
                <a:gridCol w="1536192"/>
              </a:tblGrid>
              <a:tr h="457200">
                <a:tc>
                  <a:txBody>
                    <a:bodyPr/>
                    <a:lstStyle/>
                    <a:p>
                      <a:pPr marL="0" indent="0">
                        <a:buNone/>
                      </a:pPr>
                      <a:r>
                        <a:rPr lang="en-US" sz="1400" b="1" dirty="0">
                          <a:solidFill>
                            <a:schemeClr val="bg1"/>
                          </a:solidFill>
                        </a:rPr>
                        <a:t>CO</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Topics covered</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Implemented in this project</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rPr>
                        <a:t>Status</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tx2"/>
                    </a:solidFill>
                  </a:tcPr>
                </a:tc>
              </a:tr>
              <a:tr h="713232">
                <a:tc>
                  <a:txBody>
                    <a:bodyPr/>
                    <a:lstStyle/>
                    <a:p>
                      <a:pPr marL="0" indent="0">
                        <a:buNone/>
                      </a:pPr>
                      <a:r>
                        <a:rPr lang="en-US" sz="1400" b="1" dirty="0">
                          <a:solidFill>
                            <a:schemeClr val="tx2"/>
                          </a:solidFill>
                        </a:rPr>
                        <a:t>CO-1</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System calls, user space vs kernel space, shell-based compilation and execution</a:t>
                      </a:r>
                      <a:endParaRPr lang="en-US" sz="13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mkfifo, open, read, write, select, fcntl, close; compiled with gcc and run from bash</a:t>
                      </a:r>
                      <a:endParaRPr lang="en-US" sz="13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1"/>
                    </a:solidFill>
                  </a:tcPr>
                </a:tc>
                <a:tc>
                  <a:txBody>
                    <a:bodyPr/>
                    <a:lstStyle/>
                    <a:p>
                      <a:pPr marL="0" indent="0" algn="ctr">
                        <a:buNone/>
                      </a:pPr>
                      <a:r>
                        <a:rPr lang="en-US" sz="1400" b="1" dirty="0">
                          <a:solidFill>
                            <a:schemeClr val="bg1"/>
                          </a:solidFill>
                        </a:rPr>
                        <a:t>Implemented</a:t>
                      </a:r>
                      <a:endParaRPr lang="en-US" sz="1400" dirty="0"/>
                    </a:p>
                  </a:txBody>
                  <a:tcPr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accent1"/>
                    </a:solidFill>
                  </a:tcPr>
                </a:tc>
              </a:tr>
              <a:tr h="713232">
                <a:tc>
                  <a:txBody>
                    <a:bodyPr/>
                    <a:lstStyle/>
                    <a:p>
                      <a:pPr marL="0" indent="0">
                        <a:buNone/>
                      </a:pPr>
                      <a:r>
                        <a:rPr lang="en-US" sz="1400" b="1" dirty="0">
                          <a:solidFill>
                            <a:schemeClr val="tx2"/>
                          </a:solidFill>
                        </a:rPr>
                        <a:t>CO-2</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Independent process execution and termination</a:t>
                      </a:r>
                      <a:endParaRPr lang="en-US" sz="13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Process A and Process B run in separate terminals; exit through /quit or a signal</a:t>
                      </a:r>
                      <a:endParaRPr lang="en-US" sz="13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c>
                  <a:txBody>
                    <a:bodyPr/>
                    <a:lstStyle/>
                    <a:p>
                      <a:pPr marL="0" indent="0" algn="ctr">
                        <a:buNone/>
                      </a:pPr>
                      <a:r>
                        <a:rPr lang="en-US" sz="1400" b="1" dirty="0">
                          <a:solidFill>
                            <a:schemeClr val="bg1"/>
                          </a:solidFill>
                        </a:rPr>
                        <a:t>Implemented</a:t>
                      </a:r>
                      <a:endParaRPr lang="en-US" sz="1400" dirty="0"/>
                    </a:p>
                  </a:txBody>
                  <a:tcPr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accent1"/>
                    </a:solidFill>
                  </a:tcPr>
                </a:tc>
              </a:tr>
              <a:tr h="713232">
                <a:tc>
                  <a:txBody>
                    <a:bodyPr/>
                    <a:lstStyle/>
                    <a:p>
                      <a:pPr marL="0" indent="0">
                        <a:buNone/>
                      </a:pPr>
                      <a:r>
                        <a:rPr lang="en-US" sz="1400" b="1" dirty="0">
                          <a:solidFill>
                            <a:schemeClr val="tx2"/>
                          </a:solidFill>
                        </a:rPr>
                        <a:t>CO-3</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IPC, named pipes, signals, signal handlers, asynchronous notification</a:t>
                      </a:r>
                      <a:endParaRPr lang="en-US" sz="13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Two FIFOs (A to B, B to A); signal handlers; peer-disconnect detection</a:t>
                      </a:r>
                      <a:endParaRPr lang="en-US" sz="13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1"/>
                    </a:solidFill>
                  </a:tcPr>
                </a:tc>
                <a:tc>
                  <a:txBody>
                    <a:bodyPr/>
                    <a:lstStyle/>
                    <a:p>
                      <a:pPr marL="0" indent="0" algn="ctr">
                        <a:buNone/>
                      </a:pPr>
                      <a:r>
                        <a:rPr lang="en-US" sz="1400" b="1" dirty="0">
                          <a:solidFill>
                            <a:schemeClr val="bg1"/>
                          </a:solidFill>
                        </a:rPr>
                        <a:t>Implemented</a:t>
                      </a:r>
                      <a:endParaRPr lang="en-US" sz="1400" dirty="0"/>
                    </a:p>
                  </a:txBody>
                  <a:tcPr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accent1"/>
                    </a:solidFill>
                  </a:tcPr>
                </a:tc>
              </a:tr>
              <a:tr h="713232">
                <a:tc>
                  <a:txBody>
                    <a:bodyPr/>
                    <a:lstStyle/>
                    <a:p>
                      <a:pPr marL="0" indent="0">
                        <a:buNone/>
                      </a:pPr>
                      <a:r>
                        <a:rPr lang="en-US" sz="1400" b="1" dirty="0">
                          <a:solidFill>
                            <a:schemeClr val="tx2"/>
                          </a:solidFill>
                        </a:rPr>
                        <a:t>CO-4</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Basic process memory usage</a:t>
                      </a:r>
                      <a:endParaRPr lang="en-US" sz="13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Fixed-size message buffers with input validation</a:t>
                      </a:r>
                      <a:endParaRPr lang="en-US" sz="13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c>
                  <a:txBody>
                    <a:bodyPr/>
                    <a:lstStyle/>
                    <a:p>
                      <a:pPr marL="0" indent="0" algn="ctr">
                        <a:buNone/>
                      </a:pPr>
                      <a:r>
                        <a:rPr lang="en-US" sz="1400" b="1" dirty="0">
                          <a:solidFill>
                            <a:schemeClr val="bg1"/>
                          </a:solidFill>
                        </a:rPr>
                        <a:t>Implemented</a:t>
                      </a:r>
                      <a:endParaRPr lang="en-US" sz="1400" dirty="0"/>
                    </a:p>
                  </a:txBody>
                  <a:tcPr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accent1"/>
                    </a:solidFill>
                  </a:tcPr>
                </a:tc>
              </a:tr>
              <a:tr h="713232">
                <a:tc>
                  <a:txBody>
                    <a:bodyPr/>
                    <a:lstStyle/>
                    <a:p>
                      <a:pPr marL="0" indent="0">
                        <a:buNone/>
                      </a:pPr>
                      <a:r>
                        <a:rPr lang="en-US" sz="1400" b="1" dirty="0">
                          <a:solidFill>
                            <a:schemeClr val="tx2"/>
                          </a:solidFill>
                        </a:rPr>
                        <a:t>CO-5</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File descriptors and file I/O system calls; FIFOs as filesystem objects</a:t>
                      </a:r>
                      <a:endParaRPr lang="en-US" sz="13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open/read/write/close on FIFOs; fcntl() flags; FIFO special file (type p)</a:t>
                      </a:r>
                      <a:endParaRPr lang="en-US" sz="13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1"/>
                    </a:solidFill>
                  </a:tcPr>
                </a:tc>
                <a:tc>
                  <a:txBody>
                    <a:bodyPr/>
                    <a:lstStyle/>
                    <a:p>
                      <a:pPr marL="0" indent="0" algn="ctr">
                        <a:buNone/>
                      </a:pPr>
                      <a:r>
                        <a:rPr lang="en-US" sz="1400" b="1" dirty="0">
                          <a:solidFill>
                            <a:schemeClr val="bg1"/>
                          </a:solidFill>
                        </a:rPr>
                        <a:t>Implemented</a:t>
                      </a:r>
                      <a:endParaRPr lang="en-US" sz="1400" dirty="0"/>
                    </a:p>
                  </a:txBody>
                  <a:tcPr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accent1"/>
                    </a:solidFill>
                  </a:tcPr>
                </a:tc>
              </a:tr>
              <a:tr h="713232">
                <a:tc>
                  <a:txBody>
                    <a:bodyPr/>
                    <a:lstStyle/>
                    <a:p>
                      <a:pPr marL="0" indent="0">
                        <a:buNone/>
                      </a:pPr>
                      <a:r>
                        <a:rPr lang="en-US" sz="1400" b="1" dirty="0">
                          <a:solidFill>
                            <a:schemeClr val="tx2"/>
                          </a:solidFill>
                        </a:rPr>
                        <a:t>CO-6</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Concurrent execution of independent processes; input monitoring</a:t>
                      </a:r>
                      <a:endParaRPr lang="en-US" sz="13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Two processes run concurrently; select() watches stdin and the FIFO together</a:t>
                      </a:r>
                      <a:endParaRPr lang="en-US" sz="13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c>
                  <a:txBody>
                    <a:bodyPr/>
                    <a:lstStyle/>
                    <a:p>
                      <a:pPr marL="0" indent="0" algn="ctr">
                        <a:buNone/>
                      </a:pPr>
                      <a:r>
                        <a:rPr lang="en-US" sz="1400" b="1" dirty="0">
                          <a:solidFill>
                            <a:schemeClr val="bg1"/>
                          </a:solidFill>
                        </a:rPr>
                        <a:t>Implemented</a:t>
                      </a:r>
                      <a:endParaRPr lang="en-US" sz="1400" dirty="0"/>
                    </a:p>
                  </a:txBody>
                  <a:tcPr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accent1"/>
                    </a:solidFill>
                  </a:tcPr>
                </a:tc>
              </a:tr>
            </a:tbl>
          </a:graphicData>
        </a:graphic>
      </p:graphicFrame>
      <p:sp>
        <p:nvSpPr>
          <p:cNvPr id="4" name="Text 1"/>
          <p:cNvSpPr txBox="1"/>
          <p:nvPr/>
        </p:nvSpPr>
        <p:spPr>
          <a:xfrm>
            <a:off x="548640" y="6053328"/>
            <a:ext cx="11091672" cy="274320"/>
          </a:xfrm>
          <a:prstGeom prst="rect">
            <a:avLst/>
          </a:prstGeom>
          <a:noFill/>
        </p:spPr>
        <p:txBody>
          <a:bodyPr wrap="square" lIns="0" tIns="0" rIns="0" bIns="0" rtlCol="0" anchor="t"/>
          <a:lstStyle/>
          <a:p>
            <a:pPr marL="0" indent="0">
              <a:buNone/>
            </a:pPr>
            <a:r>
              <a:rPr lang="en-US" sz="1200" i="1" dirty="0">
                <a:solidFill>
                  <a:schemeClr val="accent5"/>
                </a:solidFill>
              </a:rPr>
              <a:t>Implemented = the listed topics are demonstrated in the project code.</a:t>
            </a:r>
            <a:endParaRPr lang="en-US" sz="1200" dirty="0"/>
          </a:p>
        </p:txBody>
      </p:sp>
      <p:sp>
        <p:nvSpPr>
          <p:cNvPr id="25" name="Slide Number Placeholder 0"/>
          <p:cNvSpPr>
            <a:spLocks noGrp="1"/>
          </p:cNvSpPr>
          <p:nvPr>
            <p:ph type="sldNum" sz="quarter" idx="4294967295"/>
          </p:nvPr>
        </p:nvSpPr>
        <p:spPr>
          <a:xfrm>
            <a:off x="10972800" y="6382512"/>
            <a:ext cx="667512" cy="274320"/>
          </a:xfrm>
          <a:prstGeom prst="rect">
            <a:avLst/>
          </a:prstGeom>
        </p:spPr>
        <p:txBody>
          <a:bodyPr/>
          <a:lstStyle>
            <a:lvl1pPr>
              <a:defRPr sz="1000">
                <a:solidFill>
                  <a:schemeClr val="accent5"/>
                </a:solidFill>
              </a:defRPr>
            </a:lvl1pPr>
          </a:lstStyle>
          <a:p>
            <a:pPr algn="r"/>
            <a:fld id="{F7021451-1387-4CA6-816F-3879F97B5CBC}" type="slidenum">
              <a:rPr lang="en-US" b="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548640" y="320040"/>
            <a:ext cx="11091672" cy="777240"/>
          </a:xfrm>
          <a:prstGeom prst="rect">
            <a:avLst/>
          </a:prstGeom>
          <a:noFill/>
        </p:spPr>
        <p:txBody>
          <a:bodyPr wrap="square" lIns="0" tIns="0" rIns="0" bIns="0" rtlCol="0" anchor="ctr"/>
          <a:lstStyle/>
          <a:p>
            <a:pPr marL="0" indent="0" algn="l">
              <a:buNone/>
            </a:pPr>
            <a:r>
              <a:rPr lang="en-US" sz="3200" b="1" dirty="0">
                <a:solidFill>
                  <a:schemeClr val="tx2"/>
                </a:solidFill>
              </a:rPr>
              <a:t>Testing and Results</a:t>
            </a:r>
            <a:endParaRPr lang="en-US" sz="3200" dirty="0"/>
          </a:p>
        </p:txBody>
      </p:sp>
      <p:graphicFrame>
        <p:nvGraphicFramePr>
          <p:cNvPr id="13" name="Test scenario table"/>
          <p:cNvGraphicFramePr>
            <a:graphicFrameLocks noGrp="1"/>
          </p:cNvGraphicFramePr>
          <p:nvPr/>
        </p:nvGraphicFramePr>
        <p:xfrm>
          <a:off x="548640" y="1280160"/>
          <a:ext cx="11091672" cy="3858768"/>
        </p:xfrm>
        <a:graphic>
          <a:graphicData uri="http://schemas.openxmlformats.org/drawingml/2006/table">
            <a:tbl>
              <a:tblPr/>
              <a:tblGrid>
                <a:gridCol w="548640"/>
                <a:gridCol w="2651760"/>
                <a:gridCol w="5696712"/>
                <a:gridCol w="2194560"/>
              </a:tblGrid>
              <a:tr h="457200">
                <a:tc>
                  <a:txBody>
                    <a:bodyPr/>
                    <a:lstStyle/>
                    <a:p>
                      <a:pPr marL="0" indent="0" algn="ctr">
                        <a:buNone/>
                      </a:pPr>
                      <a:r>
                        <a:rPr lang="en-US" sz="1400" b="1" dirty="0">
                          <a:solidFill>
                            <a:schemeClr val="bg1"/>
                          </a:solidFill>
                        </a:rPr>
                        <a:t>#</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Test scenario</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What to observe</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rPr>
                        <a:t>Result</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tx2"/>
                    </a:solidFill>
                  </a:tcPr>
                </a:tc>
              </a:tr>
              <a:tr h="566928">
                <a:tc>
                  <a:txBody>
                    <a:bodyPr/>
                    <a:lstStyle/>
                    <a:p>
                      <a:pPr marL="0" indent="0" algn="ctr">
                        <a:buNone/>
                      </a:pPr>
                      <a:r>
                        <a:rPr lang="en-US" sz="1400" b="1" dirty="0">
                          <a:solidFill>
                            <a:schemeClr val="tx2"/>
                          </a:solidFill>
                        </a:rPr>
                        <a:t>1</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1"/>
                    </a:solidFill>
                  </a:tcPr>
                </a:tc>
                <a:tc>
                  <a:txBody>
                    <a:bodyPr/>
                    <a:lstStyle/>
                    <a:p>
                      <a:pPr marL="0" indent="0">
                        <a:buNone/>
                      </a:pPr>
                      <a:r>
                        <a:rPr lang="en-US" sz="1400" b="1" dirty="0">
                          <a:solidFill>
                            <a:schemeClr val="tx1"/>
                          </a:solidFill>
                        </a:rPr>
                        <a:t>Bidirectional messaging</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A message typed in either process appears in the other</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1"/>
                    </a:solidFill>
                  </a:tcPr>
                </a:tc>
                <a:tc>
                  <a:txBody>
                    <a:bodyPr/>
                    <a:lstStyle/>
                    <a:p>
                      <a:pPr marL="0" indent="0" algn="ctr">
                        <a:buNone/>
                      </a:pPr>
                      <a:r>
                        <a:rPr lang="en-US" sz="1400" i="1" dirty="0">
                          <a:solidFill>
                            <a:schemeClr val="accent5"/>
                          </a:solidFill>
                        </a:rPr>
                        <a:t>Record from run</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1"/>
                    </a:solidFill>
                  </a:tcPr>
                </a:tc>
              </a:tr>
              <a:tr h="566928">
                <a:tc>
                  <a:txBody>
                    <a:bodyPr/>
                    <a:lstStyle/>
                    <a:p>
                      <a:pPr marL="0" indent="0" algn="ctr">
                        <a:buNone/>
                      </a:pPr>
                      <a:r>
                        <a:rPr lang="en-US" sz="1400" b="1" dirty="0">
                          <a:solidFill>
                            <a:schemeClr val="tx2"/>
                          </a:solidFill>
                        </a:rPr>
                        <a:t>2</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c>
                  <a:txBody>
                    <a:bodyPr/>
                    <a:lstStyle/>
                    <a:p>
                      <a:pPr marL="0" indent="0">
                        <a:buNone/>
                      </a:pPr>
                      <a:r>
                        <a:rPr lang="en-US" sz="1400" b="1" dirty="0">
                          <a:solidFill>
                            <a:schemeClr val="tx1"/>
                          </a:solidFill>
                        </a:rPr>
                        <a:t>FIFO communication</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ls -l shows both FIFOs with file type p; data flows through them</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c>
                  <a:txBody>
                    <a:bodyPr/>
                    <a:lstStyle/>
                    <a:p>
                      <a:pPr marL="0" indent="0" algn="ctr">
                        <a:buNone/>
                      </a:pPr>
                      <a:r>
                        <a:rPr lang="en-US" sz="1400" i="1" dirty="0">
                          <a:solidFill>
                            <a:schemeClr val="accent5"/>
                          </a:solidFill>
                        </a:rPr>
                        <a:t>Record from run</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r>
              <a:tr h="566928">
                <a:tc>
                  <a:txBody>
                    <a:bodyPr/>
                    <a:lstStyle/>
                    <a:p>
                      <a:pPr marL="0" indent="0" algn="ctr">
                        <a:buNone/>
                      </a:pPr>
                      <a:r>
                        <a:rPr lang="en-US" sz="1400" b="1" dirty="0">
                          <a:solidFill>
                            <a:schemeClr val="tx2"/>
                          </a:solidFill>
                        </a:rPr>
                        <a:t>3</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1"/>
                    </a:solidFill>
                  </a:tcPr>
                </a:tc>
                <a:tc>
                  <a:txBody>
                    <a:bodyPr/>
                    <a:lstStyle/>
                    <a:p>
                      <a:pPr marL="0" indent="0">
                        <a:buNone/>
                      </a:pPr>
                      <a:r>
                        <a:rPr lang="en-US" sz="1400" b="1" dirty="0">
                          <a:solidFill>
                            <a:schemeClr val="tx1"/>
                          </a:solidFill>
                        </a:rPr>
                        <a:t>Simultaneous I/O</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Both sides can type and receive without strict turn-taking</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1"/>
                    </a:solidFill>
                  </a:tcPr>
                </a:tc>
                <a:tc>
                  <a:txBody>
                    <a:bodyPr/>
                    <a:lstStyle/>
                    <a:p>
                      <a:pPr marL="0" indent="0" algn="ctr">
                        <a:buNone/>
                      </a:pPr>
                      <a:r>
                        <a:rPr lang="en-US" sz="1400" i="1" dirty="0">
                          <a:solidFill>
                            <a:schemeClr val="accent5"/>
                          </a:solidFill>
                        </a:rPr>
                        <a:t>Record from run</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1"/>
                    </a:solidFill>
                  </a:tcPr>
                </a:tc>
              </a:tr>
              <a:tr h="566928">
                <a:tc>
                  <a:txBody>
                    <a:bodyPr/>
                    <a:lstStyle/>
                    <a:p>
                      <a:pPr marL="0" indent="0" algn="ctr">
                        <a:buNone/>
                      </a:pPr>
                      <a:r>
                        <a:rPr lang="en-US" sz="1400" b="1" dirty="0">
                          <a:solidFill>
                            <a:schemeClr val="tx2"/>
                          </a:solidFill>
                        </a:rPr>
                        <a:t>4</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c>
                  <a:txBody>
                    <a:bodyPr/>
                    <a:lstStyle/>
                    <a:p>
                      <a:pPr marL="0" indent="0">
                        <a:buNone/>
                      </a:pPr>
                      <a:r>
                        <a:rPr lang="en-US" sz="1400" b="1" dirty="0">
                          <a:solidFill>
                            <a:schemeClr val="tx1"/>
                          </a:solidFill>
                        </a:rPr>
                        <a:t>Signal handling</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Ctrl+C (SIGINT) runs the handler and the process exits cleanly</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c>
                  <a:txBody>
                    <a:bodyPr/>
                    <a:lstStyle/>
                    <a:p>
                      <a:pPr marL="0" indent="0" algn="ctr">
                        <a:buNone/>
                      </a:pPr>
                      <a:r>
                        <a:rPr lang="en-US" sz="1400" i="1" dirty="0">
                          <a:solidFill>
                            <a:schemeClr val="accent5"/>
                          </a:solidFill>
                        </a:rPr>
                        <a:t>Record from run</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r>
              <a:tr h="566928">
                <a:tc>
                  <a:txBody>
                    <a:bodyPr/>
                    <a:lstStyle/>
                    <a:p>
                      <a:pPr marL="0" indent="0" algn="ctr">
                        <a:buNone/>
                      </a:pPr>
                      <a:r>
                        <a:rPr lang="en-US" sz="1400" b="1" dirty="0">
                          <a:solidFill>
                            <a:schemeClr val="tx2"/>
                          </a:solidFill>
                        </a:rPr>
                        <a:t>5</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1"/>
                    </a:solidFill>
                  </a:tcPr>
                </a:tc>
                <a:tc>
                  <a:txBody>
                    <a:bodyPr/>
                    <a:lstStyle/>
                    <a:p>
                      <a:pPr marL="0" indent="0">
                        <a:buNone/>
                      </a:pPr>
                      <a:r>
                        <a:rPr lang="en-US" sz="1400" b="1" dirty="0">
                          <a:solidFill>
                            <a:schemeClr val="tx1"/>
                          </a:solidFill>
                        </a:rPr>
                        <a:t>/quit disconnection</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The sender exits; the peer detects it and terminates gracefully</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1"/>
                    </a:solidFill>
                  </a:tcPr>
                </a:tc>
                <a:tc>
                  <a:txBody>
                    <a:bodyPr/>
                    <a:lstStyle/>
                    <a:p>
                      <a:pPr marL="0" indent="0" algn="ctr">
                        <a:buNone/>
                      </a:pPr>
                      <a:r>
                        <a:rPr lang="en-US" sz="1400" i="1" dirty="0">
                          <a:solidFill>
                            <a:schemeClr val="accent5"/>
                          </a:solidFill>
                        </a:rPr>
                        <a:t>Record from run</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1"/>
                    </a:solidFill>
                  </a:tcPr>
                </a:tc>
              </a:tr>
              <a:tr h="566928">
                <a:tc>
                  <a:txBody>
                    <a:bodyPr/>
                    <a:lstStyle/>
                    <a:p>
                      <a:pPr marL="0" indent="0" algn="ctr">
                        <a:buNone/>
                      </a:pPr>
                      <a:r>
                        <a:rPr lang="en-US" sz="1400" b="1" dirty="0">
                          <a:solidFill>
                            <a:schemeClr val="tx2"/>
                          </a:solidFill>
                        </a:rPr>
                        <a:t>6</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c>
                  <a:txBody>
                    <a:bodyPr/>
                    <a:lstStyle/>
                    <a:p>
                      <a:pPr marL="0" indent="0">
                        <a:buNone/>
                      </a:pPr>
                      <a:r>
                        <a:rPr lang="en-US" sz="1400" b="1" dirty="0">
                          <a:solidFill>
                            <a:schemeClr val="tx1"/>
                          </a:solidFill>
                        </a:rPr>
                        <a:t>Invalid input</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Empty or oversized input is rejected or truncated safely</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c>
                  <a:txBody>
                    <a:bodyPr/>
                    <a:lstStyle/>
                    <a:p>
                      <a:pPr marL="0" indent="0" algn="ctr">
                        <a:buNone/>
                      </a:pPr>
                      <a:r>
                        <a:rPr lang="en-US" sz="1400" i="1" dirty="0">
                          <a:solidFill>
                            <a:schemeClr val="accent5"/>
                          </a:solidFill>
                        </a:rPr>
                        <a:t>Record from run</a:t>
                      </a:r>
                      <a:endParaRPr lang="en-US" sz="1400" dirty="0"/>
                    </a:p>
                  </a:txBody>
                  <a:tcPr marT="0" marB="0" anchor="ctr">
                    <a:lnL w="9525" cap="flat" cmpd="sng" algn="ctr">
                      <a:solidFill>
                        <a:srgbClr val="C9D6EA"/>
                      </a:solidFill>
                      <a:prstDash val="solid"/>
                      <a:round/>
                      <a:headEnd type="none" w="med" len="med"/>
                      <a:tailEnd type="none" w="med" len="med"/>
                    </a:lnL>
                    <a:lnR w="9525" cap="flat" cmpd="sng" algn="ctr">
                      <a:solidFill>
                        <a:srgbClr val="C9D6EA"/>
                      </a:solidFill>
                      <a:prstDash val="solid"/>
                      <a:round/>
                      <a:headEnd type="none" w="med" len="med"/>
                      <a:tailEnd type="none" w="med" len="med"/>
                    </a:lnR>
                    <a:lnT w="9525" cap="flat" cmpd="sng" algn="ctr">
                      <a:solidFill>
                        <a:srgbClr val="C9D6EA"/>
                      </a:solidFill>
                      <a:prstDash val="solid"/>
                      <a:round/>
                      <a:headEnd type="none" w="med" len="med"/>
                      <a:tailEnd type="none" w="med" len="med"/>
                    </a:lnT>
                    <a:lnB w="9525" cap="flat" cmpd="sng" algn="ctr">
                      <a:solidFill>
                        <a:srgbClr val="C9D6EA"/>
                      </a:solidFill>
                      <a:prstDash val="solid"/>
                      <a:round/>
                      <a:headEnd type="none" w="med" len="med"/>
                      <a:tailEnd type="none" w="med" len="med"/>
                    </a:lnB>
                    <a:solidFill>
                      <a:schemeClr val="bg2"/>
                    </a:solidFill>
                  </a:tcPr>
                </a:tc>
              </a:tr>
            </a:tbl>
          </a:graphicData>
        </a:graphic>
      </p:graphicFrame>
      <p:sp>
        <p:nvSpPr>
          <p:cNvPr id="4" name="Results note"/>
          <p:cNvSpPr/>
          <p:nvPr/>
        </p:nvSpPr>
        <p:spPr>
          <a:xfrm>
            <a:off x="548640" y="5303520"/>
            <a:ext cx="11091672" cy="868680"/>
          </a:xfrm>
          <a:prstGeom prst="roundRect">
            <a:avLst>
              <a:gd name="adj" fmla="val 10526"/>
            </a:avLst>
          </a:prstGeom>
          <a:solidFill>
            <a:schemeClr val="bg2"/>
          </a:solidFill>
        </p:spPr>
      </p:sp>
      <p:sp>
        <p:nvSpPr>
          <p:cNvPr id="5" name="Icon circle FaExclamationTriangle"/>
          <p:cNvSpPr/>
          <p:nvPr/>
        </p:nvSpPr>
        <p:spPr>
          <a:xfrm>
            <a:off x="777240" y="5440680"/>
            <a:ext cx="594360" cy="594360"/>
          </a:xfrm>
          <a:prstGeom prst="ellipse">
            <a:avLst/>
          </a:prstGeom>
          <a:solidFill>
            <a:schemeClr val="accent1"/>
          </a:solidFill>
        </p:spPr>
      </p:sp>
      <p:pic>
        <p:nvPicPr>
          <p:cNvPr id="6" name="Image 0" descr="ExclamationTriangle icon"/>
          <p:cNvPicPr>
            <a:picLocks noChangeAspect="1"/>
          </p:cNvPicPr>
          <p:nvPr/>
        </p:nvPicPr>
        <p:blipFill>
          <a:blip r:embed="rId1"/>
          <a:stretch>
            <a:fillRect/>
          </a:stretch>
        </p:blipFill>
        <p:spPr>
          <a:xfrm>
            <a:off x="925830" y="5589270"/>
            <a:ext cx="297180" cy="297180"/>
          </a:xfrm>
          <a:prstGeom prst="rect">
            <a:avLst/>
          </a:prstGeom>
        </p:spPr>
      </p:pic>
      <p:sp>
        <p:nvSpPr>
          <p:cNvPr id="7" name="Text 3"/>
          <p:cNvSpPr txBox="1"/>
          <p:nvPr/>
        </p:nvSpPr>
        <p:spPr>
          <a:xfrm>
            <a:off x="1600200" y="5303520"/>
            <a:ext cx="9875520" cy="868680"/>
          </a:xfrm>
          <a:prstGeom prst="rect">
            <a:avLst/>
          </a:prstGeom>
          <a:noFill/>
        </p:spPr>
        <p:txBody>
          <a:bodyPr wrap="square" lIns="0" tIns="0" rIns="0" bIns="0" rtlCol="0" anchor="ctr"/>
          <a:lstStyle/>
          <a:p>
            <a:pPr marL="0" indent="0">
              <a:buNone/>
            </a:pPr>
            <a:r>
              <a:rPr lang="en-US" sz="1400" dirty="0">
                <a:solidFill>
                  <a:schemeClr val="tx2"/>
                </a:solidFill>
              </a:rPr>
              <a:t>The Result column is intentionally blank. Run each test, then record the observed outcome (pass or fail) with a screenshot. This deck makes no pass or fail claims.</a:t>
            </a:r>
            <a:endParaRPr lang="en-US" sz="1400" dirty="0"/>
          </a:p>
        </p:txBody>
      </p:sp>
      <p:sp>
        <p:nvSpPr>
          <p:cNvPr id="25" name="Slide Number Placeholder 0"/>
          <p:cNvSpPr>
            <a:spLocks noGrp="1"/>
          </p:cNvSpPr>
          <p:nvPr>
            <p:ph type="sldNum" sz="quarter" idx="4294967295"/>
          </p:nvPr>
        </p:nvSpPr>
        <p:spPr>
          <a:xfrm>
            <a:off x="10972800" y="6382512"/>
            <a:ext cx="667512" cy="274320"/>
          </a:xfrm>
          <a:prstGeom prst="rect">
            <a:avLst/>
          </a:prstGeom>
        </p:spPr>
        <p:txBody>
          <a:bodyPr/>
          <a:lstStyle>
            <a:lvl1pPr>
              <a:defRPr sz="1000">
                <a:solidFill>
                  <a:schemeClr val="accent5"/>
                </a:solidFill>
              </a:defRPr>
            </a:lvl1pPr>
          </a:lstStyle>
          <a:p>
            <a:pPr algn="r"/>
            <a:fld id="{F7021451-1387-4CA6-816F-3879F97B5CBC}" type="slidenum">
              <a:rPr lang="en-US" b="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548640" y="320040"/>
            <a:ext cx="11091672" cy="777240"/>
          </a:xfrm>
          <a:prstGeom prst="rect">
            <a:avLst/>
          </a:prstGeom>
          <a:noFill/>
        </p:spPr>
        <p:txBody>
          <a:bodyPr wrap="square" lIns="0" tIns="0" rIns="0" bIns="0" rtlCol="0" anchor="ctr"/>
          <a:lstStyle/>
          <a:p>
            <a:pPr marL="0" indent="0" algn="l">
              <a:buNone/>
            </a:pPr>
            <a:r>
              <a:rPr lang="en-US" sz="3200" b="1" dirty="0">
                <a:solidFill>
                  <a:schemeClr val="tx2"/>
                </a:solidFill>
              </a:rPr>
              <a:t>Advantages, Limitations &amp; Future Enhancements</a:t>
            </a:r>
            <a:endParaRPr lang="en-US" sz="3200" dirty="0"/>
          </a:p>
        </p:txBody>
      </p:sp>
      <p:sp>
        <p:nvSpPr>
          <p:cNvPr id="3" name="Column card Advantages"/>
          <p:cNvSpPr/>
          <p:nvPr/>
        </p:nvSpPr>
        <p:spPr>
          <a:xfrm>
            <a:off x="548640" y="1325880"/>
            <a:ext cx="3575304" cy="4754880"/>
          </a:xfrm>
          <a:prstGeom prst="roundRect">
            <a:avLst>
              <a:gd name="adj" fmla="val 2558"/>
            </a:avLst>
          </a:prstGeom>
          <a:solidFill>
            <a:schemeClr val="bg2"/>
          </a:solidFill>
        </p:spPr>
      </p:sp>
      <p:sp>
        <p:nvSpPr>
          <p:cNvPr id="4" name="Icon circle FaThumbsUp"/>
          <p:cNvSpPr/>
          <p:nvPr/>
        </p:nvSpPr>
        <p:spPr>
          <a:xfrm>
            <a:off x="822960" y="1554480"/>
            <a:ext cx="640080" cy="640080"/>
          </a:xfrm>
          <a:prstGeom prst="ellipse">
            <a:avLst/>
          </a:prstGeom>
          <a:solidFill>
            <a:schemeClr val="accent1"/>
          </a:solidFill>
        </p:spPr>
      </p:sp>
      <p:pic>
        <p:nvPicPr>
          <p:cNvPr id="5" name="Image 0" descr="ThumbsUp icon"/>
          <p:cNvPicPr>
            <a:picLocks noChangeAspect="1"/>
          </p:cNvPicPr>
          <p:nvPr/>
        </p:nvPicPr>
        <p:blipFill>
          <a:blip r:embed="rId1"/>
          <a:stretch>
            <a:fillRect/>
          </a:stretch>
        </p:blipFill>
        <p:spPr>
          <a:xfrm>
            <a:off x="982980" y="1714500"/>
            <a:ext cx="320040" cy="320040"/>
          </a:xfrm>
          <a:prstGeom prst="rect">
            <a:avLst/>
          </a:prstGeom>
        </p:spPr>
      </p:pic>
      <p:sp>
        <p:nvSpPr>
          <p:cNvPr id="6" name="Text 3"/>
          <p:cNvSpPr txBox="1"/>
          <p:nvPr/>
        </p:nvSpPr>
        <p:spPr>
          <a:xfrm>
            <a:off x="1600200" y="1554480"/>
            <a:ext cx="2377440" cy="640080"/>
          </a:xfrm>
          <a:prstGeom prst="rect">
            <a:avLst/>
          </a:prstGeom>
          <a:noFill/>
        </p:spPr>
        <p:txBody>
          <a:bodyPr wrap="square" lIns="0" tIns="0" rIns="0" bIns="0" rtlCol="0" anchor="ctr"/>
          <a:lstStyle/>
          <a:p>
            <a:pPr marL="0" indent="0">
              <a:buNone/>
            </a:pPr>
            <a:r>
              <a:rPr lang="en-US" sz="1800" b="1" dirty="0">
                <a:solidFill>
                  <a:schemeClr val="tx2"/>
                </a:solidFill>
              </a:rPr>
              <a:t>Advantages</a:t>
            </a:r>
            <a:endParaRPr lang="en-US" sz="1800" dirty="0"/>
          </a:p>
        </p:txBody>
      </p:sp>
      <p:sp>
        <p:nvSpPr>
          <p:cNvPr id="7" name="Text 4"/>
          <p:cNvSpPr txBox="1"/>
          <p:nvPr/>
        </p:nvSpPr>
        <p:spPr>
          <a:xfrm>
            <a:off x="822960" y="2468880"/>
            <a:ext cx="3063240" cy="3474720"/>
          </a:xfrm>
          <a:prstGeom prst="rect">
            <a:avLst/>
          </a:prstGeom>
          <a:noFill/>
        </p:spPr>
        <p:txBody>
          <a:bodyPr wrap="square" lIns="0" tIns="0" rIns="0" bIns="0" rtlCol="0" anchor="t"/>
          <a:lstStyle/>
          <a:p>
            <a:pPr marL="228600" indent="-228600">
              <a:spcAft>
                <a:spcPts val="900"/>
              </a:spcAft>
              <a:buSzPct val="100000"/>
              <a:buChar char="•"/>
            </a:pPr>
            <a:r>
              <a:rPr lang="en-US" sz="1400" dirty="0">
                <a:solidFill>
                  <a:schemeClr val="tx1"/>
                </a:solidFill>
              </a:rPr>
              <a:t>Simple, file-like API (open, read, write)</a:t>
            </a:r>
            <a:endParaRPr lang="en-US" sz="1400" dirty="0"/>
          </a:p>
          <a:p>
            <a:pPr marL="228600" indent="-228600">
              <a:spcAft>
                <a:spcPts val="900"/>
              </a:spcAft>
              <a:buSzPct val="100000"/>
              <a:buChar char="•"/>
            </a:pPr>
            <a:r>
              <a:rPr lang="en-US" sz="1400" dirty="0">
                <a:solidFill>
                  <a:schemeClr val="tx1"/>
                </a:solidFill>
              </a:rPr>
              <a:t>Low overhead: data stays in kernel buffers</a:t>
            </a:r>
            <a:endParaRPr lang="en-US" sz="1400" dirty="0"/>
          </a:p>
          <a:p>
            <a:pPr marL="228600" indent="-228600">
              <a:spcAft>
                <a:spcPts val="900"/>
              </a:spcAft>
              <a:buSzPct val="100000"/>
              <a:buChar char="•"/>
            </a:pPr>
            <a:r>
              <a:rPr lang="en-US" sz="1400" dirty="0">
                <a:solidFill>
                  <a:schemeClr val="tx1"/>
                </a:solidFill>
              </a:rPr>
              <a:t>Well suited to local, same-host communication</a:t>
            </a:r>
            <a:endParaRPr lang="en-US" sz="1400" dirty="0"/>
          </a:p>
          <a:p>
            <a:pPr marL="228600" indent="-228600">
              <a:spcAft>
                <a:spcPts val="900"/>
              </a:spcAft>
              <a:buSzPct val="100000"/>
              <a:buChar char="•"/>
            </a:pPr>
            <a:r>
              <a:rPr lang="en-US" sz="1400" dirty="0">
                <a:solidFill>
                  <a:schemeClr val="tx1"/>
                </a:solidFill>
              </a:rPr>
              <a:t>Input validation protects the buffers</a:t>
            </a:r>
            <a:endParaRPr lang="en-US" sz="1400" dirty="0"/>
          </a:p>
          <a:p>
            <a:pPr marL="228600" indent="-228600">
              <a:spcAft>
                <a:spcPts val="900"/>
              </a:spcAft>
              <a:buSzPct val="100000"/>
              <a:buChar char="•"/>
            </a:pPr>
            <a:r>
              <a:rPr lang="en-US" sz="1400" dirty="0">
                <a:solidFill>
                  <a:schemeClr val="tx1"/>
                </a:solidFill>
              </a:rPr>
              <a:t>Detects disconnection and exits gracefully</a:t>
            </a:r>
            <a:endParaRPr lang="en-US" sz="1400" dirty="0"/>
          </a:p>
        </p:txBody>
      </p:sp>
      <p:sp>
        <p:nvSpPr>
          <p:cNvPr id="8" name="Column card Limitations"/>
          <p:cNvSpPr/>
          <p:nvPr/>
        </p:nvSpPr>
        <p:spPr>
          <a:xfrm>
            <a:off x="4306824" y="1325880"/>
            <a:ext cx="3575304" cy="4754880"/>
          </a:xfrm>
          <a:prstGeom prst="roundRect">
            <a:avLst>
              <a:gd name="adj" fmla="val 2558"/>
            </a:avLst>
          </a:prstGeom>
          <a:solidFill>
            <a:schemeClr val="bg2"/>
          </a:solidFill>
        </p:spPr>
      </p:sp>
      <p:sp>
        <p:nvSpPr>
          <p:cNvPr id="9" name="Icon circle FaExclamationTriangle"/>
          <p:cNvSpPr/>
          <p:nvPr/>
        </p:nvSpPr>
        <p:spPr>
          <a:xfrm>
            <a:off x="4581144" y="1554480"/>
            <a:ext cx="640080" cy="640080"/>
          </a:xfrm>
          <a:prstGeom prst="ellipse">
            <a:avLst/>
          </a:prstGeom>
          <a:solidFill>
            <a:schemeClr val="accent1"/>
          </a:solidFill>
        </p:spPr>
      </p:sp>
      <p:pic>
        <p:nvPicPr>
          <p:cNvPr id="10" name="Image 1" descr="ExclamationTriangle icon"/>
          <p:cNvPicPr>
            <a:picLocks noChangeAspect="1"/>
          </p:cNvPicPr>
          <p:nvPr/>
        </p:nvPicPr>
        <p:blipFill>
          <a:blip r:embed="rId2"/>
          <a:stretch>
            <a:fillRect/>
          </a:stretch>
        </p:blipFill>
        <p:spPr>
          <a:xfrm>
            <a:off x="4741164" y="1714500"/>
            <a:ext cx="320040" cy="320040"/>
          </a:xfrm>
          <a:prstGeom prst="rect">
            <a:avLst/>
          </a:prstGeom>
        </p:spPr>
      </p:pic>
      <p:sp>
        <p:nvSpPr>
          <p:cNvPr id="11" name="Text 7"/>
          <p:cNvSpPr txBox="1"/>
          <p:nvPr/>
        </p:nvSpPr>
        <p:spPr>
          <a:xfrm>
            <a:off x="5358384" y="1554480"/>
            <a:ext cx="2377440" cy="640080"/>
          </a:xfrm>
          <a:prstGeom prst="rect">
            <a:avLst/>
          </a:prstGeom>
          <a:noFill/>
        </p:spPr>
        <p:txBody>
          <a:bodyPr wrap="square" lIns="0" tIns="0" rIns="0" bIns="0" rtlCol="0" anchor="ctr"/>
          <a:lstStyle/>
          <a:p>
            <a:pPr marL="0" indent="0">
              <a:buNone/>
            </a:pPr>
            <a:r>
              <a:rPr lang="en-US" sz="1800" b="1" dirty="0">
                <a:solidFill>
                  <a:schemeClr val="tx2"/>
                </a:solidFill>
              </a:rPr>
              <a:t>Limitations</a:t>
            </a:r>
            <a:endParaRPr lang="en-US" sz="1800" dirty="0"/>
          </a:p>
        </p:txBody>
      </p:sp>
      <p:sp>
        <p:nvSpPr>
          <p:cNvPr id="12" name="Text 8"/>
          <p:cNvSpPr txBox="1"/>
          <p:nvPr/>
        </p:nvSpPr>
        <p:spPr>
          <a:xfrm>
            <a:off x="4581144" y="2468880"/>
            <a:ext cx="3063240" cy="3474720"/>
          </a:xfrm>
          <a:prstGeom prst="rect">
            <a:avLst/>
          </a:prstGeom>
          <a:noFill/>
        </p:spPr>
        <p:txBody>
          <a:bodyPr wrap="square" lIns="0" tIns="0" rIns="0" bIns="0" rtlCol="0" anchor="t"/>
          <a:lstStyle/>
          <a:p>
            <a:pPr marL="228600" indent="-228600">
              <a:spcAft>
                <a:spcPts val="900"/>
              </a:spcAft>
              <a:buSzPct val="100000"/>
              <a:buChar char="•"/>
            </a:pPr>
            <a:r>
              <a:rPr lang="en-US" sz="1400" dirty="0">
                <a:solidFill>
                  <a:schemeClr val="tx1"/>
                </a:solidFill>
              </a:rPr>
              <a:t>Local host only; no network support</a:t>
            </a:r>
            <a:endParaRPr lang="en-US" sz="1400" dirty="0"/>
          </a:p>
          <a:p>
            <a:pPr marL="228600" indent="-228600">
              <a:spcAft>
                <a:spcPts val="900"/>
              </a:spcAft>
              <a:buSzPct val="100000"/>
              <a:buChar char="•"/>
            </a:pPr>
            <a:r>
              <a:rPr lang="en-US" sz="1400" dirty="0">
                <a:solidFill>
                  <a:schemeClr val="tx1"/>
                </a:solidFill>
              </a:rPr>
              <a:t>Point-to-point: only two processes</a:t>
            </a:r>
            <a:endParaRPr lang="en-US" sz="1400" dirty="0"/>
          </a:p>
          <a:p>
            <a:pPr marL="228600" indent="-228600">
              <a:spcAft>
                <a:spcPts val="900"/>
              </a:spcAft>
              <a:buSzPct val="100000"/>
              <a:buChar char="•"/>
            </a:pPr>
            <a:r>
              <a:rPr lang="en-US" sz="1400" dirty="0">
                <a:solidFill>
                  <a:schemeClr val="tx1"/>
                </a:solidFill>
              </a:rPr>
              <a:t>No fork(), exec() or waitpid() management</a:t>
            </a:r>
            <a:endParaRPr lang="en-US" sz="1400" dirty="0"/>
          </a:p>
          <a:p>
            <a:pPr marL="228600" indent="-228600">
              <a:spcAft>
                <a:spcPts val="900"/>
              </a:spcAft>
              <a:buSzPct val="100000"/>
              <a:buChar char="•"/>
            </a:pPr>
            <a:r>
              <a:rPr lang="en-US" sz="1400" dirty="0">
                <a:solidFill>
                  <a:schemeClr val="tx1"/>
                </a:solidFill>
              </a:rPr>
              <a:t>Fixed-size buffers; no dynamic allocation</a:t>
            </a:r>
            <a:endParaRPr lang="en-US" sz="1400" dirty="0"/>
          </a:p>
          <a:p>
            <a:pPr marL="228600" indent="-228600">
              <a:spcAft>
                <a:spcPts val="900"/>
              </a:spcAft>
              <a:buSzPct val="100000"/>
              <a:buChar char="•"/>
            </a:pPr>
            <a:r>
              <a:rPr lang="en-US" sz="1400" dirty="0">
                <a:solidFill>
                  <a:schemeClr val="tx1"/>
                </a:solidFill>
              </a:rPr>
              <a:t>No threads or synchronisation primitives</a:t>
            </a:r>
            <a:endParaRPr lang="en-US" sz="1400" dirty="0"/>
          </a:p>
        </p:txBody>
      </p:sp>
      <p:sp>
        <p:nvSpPr>
          <p:cNvPr id="13" name="Column card Future enhancements"/>
          <p:cNvSpPr/>
          <p:nvPr/>
        </p:nvSpPr>
        <p:spPr>
          <a:xfrm>
            <a:off x="8065008" y="1325880"/>
            <a:ext cx="3575304" cy="4754880"/>
          </a:xfrm>
          <a:prstGeom prst="roundRect">
            <a:avLst>
              <a:gd name="adj" fmla="val 2558"/>
            </a:avLst>
          </a:prstGeom>
          <a:solidFill>
            <a:schemeClr val="bg2"/>
          </a:solidFill>
        </p:spPr>
      </p:sp>
      <p:sp>
        <p:nvSpPr>
          <p:cNvPr id="14" name="Icon circle FaLightbulb"/>
          <p:cNvSpPr/>
          <p:nvPr/>
        </p:nvSpPr>
        <p:spPr>
          <a:xfrm>
            <a:off x="8339328" y="1554480"/>
            <a:ext cx="640080" cy="640080"/>
          </a:xfrm>
          <a:prstGeom prst="ellipse">
            <a:avLst/>
          </a:prstGeom>
          <a:solidFill>
            <a:schemeClr val="accent1"/>
          </a:solidFill>
        </p:spPr>
      </p:sp>
      <p:pic>
        <p:nvPicPr>
          <p:cNvPr id="15" name="Image 2" descr="Lightbulb icon"/>
          <p:cNvPicPr>
            <a:picLocks noChangeAspect="1"/>
          </p:cNvPicPr>
          <p:nvPr/>
        </p:nvPicPr>
        <p:blipFill>
          <a:blip r:embed="rId3"/>
          <a:stretch>
            <a:fillRect/>
          </a:stretch>
        </p:blipFill>
        <p:spPr>
          <a:xfrm>
            <a:off x="8499348" y="1714500"/>
            <a:ext cx="320040" cy="320040"/>
          </a:xfrm>
          <a:prstGeom prst="rect">
            <a:avLst/>
          </a:prstGeom>
        </p:spPr>
      </p:pic>
      <p:sp>
        <p:nvSpPr>
          <p:cNvPr id="16" name="Text 11"/>
          <p:cNvSpPr txBox="1"/>
          <p:nvPr/>
        </p:nvSpPr>
        <p:spPr>
          <a:xfrm>
            <a:off x="9116568" y="1554480"/>
            <a:ext cx="2377440" cy="640080"/>
          </a:xfrm>
          <a:prstGeom prst="rect">
            <a:avLst/>
          </a:prstGeom>
          <a:noFill/>
        </p:spPr>
        <p:txBody>
          <a:bodyPr wrap="square" lIns="0" tIns="0" rIns="0" bIns="0" rtlCol="0" anchor="ctr"/>
          <a:lstStyle/>
          <a:p>
            <a:pPr marL="0" indent="0">
              <a:buNone/>
            </a:pPr>
            <a:r>
              <a:rPr lang="en-US" sz="1800" b="1" dirty="0">
                <a:solidFill>
                  <a:schemeClr val="tx2"/>
                </a:solidFill>
              </a:rPr>
              <a:t>Future enhancements</a:t>
            </a:r>
            <a:endParaRPr lang="en-US" sz="1800" dirty="0"/>
          </a:p>
        </p:txBody>
      </p:sp>
      <p:sp>
        <p:nvSpPr>
          <p:cNvPr id="17" name="Text 12"/>
          <p:cNvSpPr txBox="1"/>
          <p:nvPr/>
        </p:nvSpPr>
        <p:spPr>
          <a:xfrm>
            <a:off x="8339328" y="2468880"/>
            <a:ext cx="3063240" cy="3474720"/>
          </a:xfrm>
          <a:prstGeom prst="rect">
            <a:avLst/>
          </a:prstGeom>
          <a:noFill/>
        </p:spPr>
        <p:txBody>
          <a:bodyPr wrap="square" lIns="0" tIns="0" rIns="0" bIns="0" rtlCol="0" anchor="t"/>
          <a:lstStyle/>
          <a:p>
            <a:pPr marL="228600" indent="-228600">
              <a:spcAft>
                <a:spcPts val="900"/>
              </a:spcAft>
              <a:buSzPct val="100000"/>
              <a:buChar char="•"/>
            </a:pPr>
            <a:r>
              <a:rPr lang="en-US" sz="1400" dirty="0">
                <a:solidFill>
                  <a:schemeClr val="tx1"/>
                </a:solidFill>
              </a:rPr>
              <a:t>Process management with fork(), exec(), waitpid()</a:t>
            </a:r>
            <a:endParaRPr lang="en-US" sz="1400" dirty="0"/>
          </a:p>
          <a:p>
            <a:pPr marL="228600" indent="-228600">
              <a:spcAft>
                <a:spcPts val="900"/>
              </a:spcAft>
              <a:buSzPct val="100000"/>
              <a:buChar char="•"/>
            </a:pPr>
            <a:r>
              <a:rPr lang="en-US" sz="1400" dirty="0">
                <a:solidFill>
                  <a:schemeClr val="tx1"/>
                </a:solidFill>
              </a:rPr>
              <a:t>Memory analysis and dynamic allocation</a:t>
            </a:r>
            <a:endParaRPr lang="en-US" sz="1400" dirty="0"/>
          </a:p>
          <a:p>
            <a:pPr marL="228600" indent="-228600">
              <a:spcAft>
                <a:spcPts val="900"/>
              </a:spcAft>
              <a:buSzPct val="100000"/>
              <a:buChar char="•"/>
            </a:pPr>
            <a:r>
              <a:rPr lang="en-US" sz="1400" dirty="0">
                <a:solidFill>
                  <a:schemeClr val="tx1"/>
                </a:solidFill>
              </a:rPr>
              <a:t>Threads with mutexes and semaphores</a:t>
            </a:r>
            <a:endParaRPr lang="en-US" sz="1400" dirty="0"/>
          </a:p>
          <a:p>
            <a:pPr marL="228600" indent="-228600">
              <a:spcAft>
                <a:spcPts val="900"/>
              </a:spcAft>
              <a:buSzPct val="100000"/>
              <a:buChar char="•"/>
            </a:pPr>
            <a:r>
              <a:rPr lang="en-US" sz="1400" dirty="0">
                <a:solidFill>
                  <a:schemeClr val="tx1"/>
                </a:solidFill>
              </a:rPr>
              <a:t>Multi-client chat through a server process</a:t>
            </a:r>
            <a:endParaRPr lang="en-US" sz="1400" dirty="0"/>
          </a:p>
          <a:p>
            <a:pPr marL="228600" indent="-228600">
              <a:spcAft>
                <a:spcPts val="900"/>
              </a:spcAft>
              <a:buSzPct val="100000"/>
              <a:buChar char="•"/>
            </a:pPr>
            <a:r>
              <a:rPr lang="en-US" sz="1400" dirty="0">
                <a:solidFill>
                  <a:schemeClr val="tx1"/>
                </a:solidFill>
              </a:rPr>
              <a:t>Message history and timestamps</a:t>
            </a:r>
            <a:endParaRPr lang="en-US" sz="1400" dirty="0"/>
          </a:p>
        </p:txBody>
      </p:sp>
      <p:sp>
        <p:nvSpPr>
          <p:cNvPr id="25" name="Slide Number Placeholder 0"/>
          <p:cNvSpPr>
            <a:spLocks noGrp="1"/>
          </p:cNvSpPr>
          <p:nvPr>
            <p:ph type="sldNum" sz="quarter" idx="4294967295"/>
          </p:nvPr>
        </p:nvSpPr>
        <p:spPr>
          <a:xfrm>
            <a:off x="10972800" y="6382512"/>
            <a:ext cx="667512" cy="274320"/>
          </a:xfrm>
          <a:prstGeom prst="rect">
            <a:avLst/>
          </a:prstGeom>
        </p:spPr>
        <p:txBody>
          <a:bodyPr/>
          <a:lstStyle>
            <a:lvl1pPr>
              <a:defRPr sz="1000">
                <a:solidFill>
                  <a:schemeClr val="accent5"/>
                </a:solidFill>
              </a:defRPr>
            </a:lvl1pPr>
          </a:lstStyle>
          <a:p>
            <a:pPr algn="r"/>
            <a:fld id="{F7021451-1387-4CA6-816F-3879F97B5CBC}" type="slidenum">
              <a:rPr lang="en-US" b="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548640" y="320040"/>
            <a:ext cx="11091672" cy="777240"/>
          </a:xfrm>
          <a:prstGeom prst="rect">
            <a:avLst/>
          </a:prstGeom>
          <a:noFill/>
        </p:spPr>
        <p:txBody>
          <a:bodyPr wrap="square" lIns="0" tIns="0" rIns="0" bIns="0" rtlCol="0" anchor="ctr"/>
          <a:lstStyle/>
          <a:p>
            <a:pPr marL="0" indent="0" algn="l">
              <a:buNone/>
            </a:pPr>
            <a:r>
              <a:rPr lang="en-US" sz="3200" b="1" dirty="0">
                <a:solidFill>
                  <a:schemeClr val="bg1"/>
                </a:solidFill>
              </a:rPr>
              <a:t>Conclusion and References</a:t>
            </a:r>
            <a:endParaRPr lang="en-US" sz="3200" dirty="0"/>
          </a:p>
        </p:txBody>
      </p:sp>
      <p:sp>
        <p:nvSpPr>
          <p:cNvPr id="3" name="Text 1"/>
          <p:cNvSpPr txBox="1"/>
          <p:nvPr/>
        </p:nvSpPr>
        <p:spPr>
          <a:xfrm>
            <a:off x="548640" y="1371600"/>
            <a:ext cx="5486400" cy="365760"/>
          </a:xfrm>
          <a:prstGeom prst="rect">
            <a:avLst/>
          </a:prstGeom>
          <a:noFill/>
        </p:spPr>
        <p:txBody>
          <a:bodyPr wrap="square" lIns="0" tIns="0" rIns="0" bIns="0" rtlCol="0" anchor="t"/>
          <a:lstStyle/>
          <a:p>
            <a:pPr marL="0" indent="0">
              <a:buNone/>
            </a:pPr>
            <a:r>
              <a:rPr lang="en-US" sz="2000" b="1" dirty="0">
                <a:solidFill>
                  <a:schemeClr val="accent2"/>
                </a:solidFill>
              </a:rPr>
              <a:t>Conclusion</a:t>
            </a:r>
            <a:endParaRPr lang="en-US" sz="2000" dirty="0"/>
          </a:p>
        </p:txBody>
      </p:sp>
      <p:sp>
        <p:nvSpPr>
          <p:cNvPr id="4" name="Text 2"/>
          <p:cNvSpPr txBox="1"/>
          <p:nvPr/>
        </p:nvSpPr>
        <p:spPr>
          <a:xfrm>
            <a:off x="548640" y="1874520"/>
            <a:ext cx="5669280" cy="4206240"/>
          </a:xfrm>
          <a:prstGeom prst="rect">
            <a:avLst/>
          </a:prstGeom>
          <a:noFill/>
        </p:spPr>
        <p:txBody>
          <a:bodyPr wrap="square" lIns="0" tIns="0" rIns="0" bIns="0" rtlCol="0" anchor="t"/>
          <a:lstStyle/>
          <a:p>
            <a:pPr marL="228600" indent="-228600">
              <a:spcAft>
                <a:spcPts val="1200"/>
              </a:spcAft>
              <a:buSzPct val="100000"/>
              <a:buChar char="•"/>
            </a:pPr>
            <a:r>
              <a:rPr lang="en-US" sz="1600" dirty="0">
                <a:solidFill>
                  <a:schemeClr val="bg1"/>
                </a:solidFill>
              </a:rPr>
              <a:t>Built a two-way chat between two independent Linux processes using two FIFOs.</a:t>
            </a:r>
            <a:endParaRPr lang="en-US" sz="1600" dirty="0"/>
          </a:p>
          <a:p>
            <a:pPr marL="228600" indent="-228600">
              <a:spcAft>
                <a:spcPts val="1200"/>
              </a:spcAft>
              <a:buSzPct val="100000"/>
              <a:buChar char="•"/>
            </a:pPr>
            <a:r>
              <a:rPr lang="en-US" sz="1600" dirty="0">
                <a:solidFill>
                  <a:schemeClr val="bg1"/>
                </a:solidFill>
              </a:rPr>
              <a:t>Used mkfifo(), open(), read(), write(), select(), fcntl() and close() directly.</a:t>
            </a:r>
            <a:endParaRPr lang="en-US" sz="1600" dirty="0"/>
          </a:p>
          <a:p>
            <a:pPr marL="228600" indent="-228600">
              <a:spcAft>
                <a:spcPts val="1200"/>
              </a:spcAft>
              <a:buSzPct val="100000"/>
              <a:buChar char="•"/>
            </a:pPr>
            <a:r>
              <a:rPr lang="en-US" sz="1600" dirty="0">
                <a:solidFill>
                  <a:schemeClr val="bg1"/>
                </a:solidFill>
              </a:rPr>
              <a:t>Handled signals and /quit so both processes shut down gracefully.</a:t>
            </a:r>
            <a:endParaRPr lang="en-US" sz="1600" dirty="0"/>
          </a:p>
          <a:p>
            <a:pPr marL="228600" indent="-228600">
              <a:spcAft>
                <a:spcPts val="1200"/>
              </a:spcAft>
              <a:buSzPct val="100000"/>
              <a:buChar char="•"/>
            </a:pPr>
            <a:r>
              <a:rPr lang="en-US" sz="1600" dirty="0">
                <a:solidFill>
                  <a:schemeClr val="bg1"/>
                </a:solidFill>
              </a:rPr>
              <a:t>Maps to all six COs within the scope shown; process management, dynamic memory and thread synchronisation are future work.</a:t>
            </a:r>
            <a:endParaRPr lang="en-US" sz="1600" dirty="0"/>
          </a:p>
        </p:txBody>
      </p:sp>
      <p:sp>
        <p:nvSpPr>
          <p:cNvPr id="5" name="References card"/>
          <p:cNvSpPr/>
          <p:nvPr/>
        </p:nvSpPr>
        <p:spPr>
          <a:xfrm>
            <a:off x="6675120" y="1371600"/>
            <a:ext cx="4965192" cy="4754880"/>
          </a:xfrm>
          <a:prstGeom prst="roundRect">
            <a:avLst>
              <a:gd name="adj" fmla="val 1923"/>
            </a:avLst>
          </a:prstGeom>
          <a:solidFill>
            <a:schemeClr val="accent3"/>
          </a:solidFill>
        </p:spPr>
      </p:sp>
      <p:sp>
        <p:nvSpPr>
          <p:cNvPr id="6" name="Text 4"/>
          <p:cNvSpPr txBox="1"/>
          <p:nvPr/>
        </p:nvSpPr>
        <p:spPr>
          <a:xfrm>
            <a:off x="6949440" y="1554480"/>
            <a:ext cx="4389120" cy="365760"/>
          </a:xfrm>
          <a:prstGeom prst="rect">
            <a:avLst/>
          </a:prstGeom>
          <a:noFill/>
        </p:spPr>
        <p:txBody>
          <a:bodyPr wrap="square" lIns="0" tIns="0" rIns="0" bIns="0" rtlCol="0" anchor="t"/>
          <a:lstStyle/>
          <a:p>
            <a:pPr marL="0" indent="0">
              <a:buNone/>
            </a:pPr>
            <a:r>
              <a:rPr lang="en-US" sz="2000" b="1" dirty="0">
                <a:solidFill>
                  <a:schemeClr val="accent2"/>
                </a:solidFill>
              </a:rPr>
              <a:t>References</a:t>
            </a:r>
            <a:endParaRPr lang="en-US" sz="2000" dirty="0"/>
          </a:p>
        </p:txBody>
      </p:sp>
      <p:sp>
        <p:nvSpPr>
          <p:cNvPr id="7" name="Text 5"/>
          <p:cNvSpPr txBox="1"/>
          <p:nvPr/>
        </p:nvSpPr>
        <p:spPr>
          <a:xfrm>
            <a:off x="6949440" y="2011680"/>
            <a:ext cx="4526280" cy="3566160"/>
          </a:xfrm>
          <a:prstGeom prst="rect">
            <a:avLst/>
          </a:prstGeom>
          <a:noFill/>
        </p:spPr>
        <p:txBody>
          <a:bodyPr wrap="square" lIns="0" tIns="0" rIns="0" bIns="0" rtlCol="0" anchor="t"/>
          <a:lstStyle/>
          <a:p>
            <a:pPr marL="228600" indent="-228600">
              <a:spcAft>
                <a:spcPts val="500"/>
              </a:spcAft>
              <a:buSzPct val="100000"/>
              <a:buChar char="•"/>
            </a:pPr>
            <a:r>
              <a:rPr lang="en-US" sz="1400" dirty="0">
                <a:solidFill>
                  <a:schemeClr val="bg1"/>
                </a:solidFill>
              </a:rPr>
              <a:t>man 7 fifo: FIFO (named pipe) overview</a:t>
            </a:r>
            <a:endParaRPr lang="en-US" sz="1400" dirty="0"/>
          </a:p>
          <a:p>
            <a:pPr marL="228600" indent="-228600">
              <a:spcAft>
                <a:spcPts val="500"/>
              </a:spcAft>
              <a:buSzPct val="100000"/>
              <a:buChar char="•"/>
            </a:pPr>
            <a:r>
              <a:rPr lang="en-US" sz="1400" dirty="0">
                <a:solidFill>
                  <a:schemeClr val="bg1"/>
                </a:solidFill>
              </a:rPr>
              <a:t>man 3 mkfifo: create a FIFO special file</a:t>
            </a:r>
            <a:endParaRPr lang="en-US" sz="1400" dirty="0"/>
          </a:p>
          <a:p>
            <a:pPr marL="228600" indent="-228600">
              <a:spcAft>
                <a:spcPts val="500"/>
              </a:spcAft>
              <a:buSzPct val="100000"/>
              <a:buChar char="•"/>
            </a:pPr>
            <a:r>
              <a:rPr lang="en-US" sz="1400" dirty="0">
                <a:solidFill>
                  <a:schemeClr val="bg1"/>
                </a:solidFill>
              </a:rPr>
              <a:t>man 2 open, read, write, close</a:t>
            </a:r>
            <a:endParaRPr lang="en-US" sz="1400" dirty="0"/>
          </a:p>
          <a:p>
            <a:pPr marL="228600" indent="-228600">
              <a:spcAft>
                <a:spcPts val="500"/>
              </a:spcAft>
              <a:buSzPct val="100000"/>
              <a:buChar char="•"/>
            </a:pPr>
            <a:r>
              <a:rPr lang="en-US" sz="1400" dirty="0">
                <a:solidFill>
                  <a:schemeClr val="bg1"/>
                </a:solidFill>
              </a:rPr>
              <a:t>man 2 select: synchronous I/O multiplexing</a:t>
            </a:r>
            <a:endParaRPr lang="en-US" sz="1400" dirty="0"/>
          </a:p>
          <a:p>
            <a:pPr marL="228600" indent="-228600">
              <a:spcAft>
                <a:spcPts val="500"/>
              </a:spcAft>
              <a:buSzPct val="100000"/>
              <a:buChar char="•"/>
            </a:pPr>
            <a:r>
              <a:rPr lang="en-US" sz="1400" dirty="0">
                <a:solidFill>
                  <a:schemeClr val="bg1"/>
                </a:solidFill>
              </a:rPr>
              <a:t>man 2 fcntl: file descriptor control</a:t>
            </a:r>
            <a:endParaRPr lang="en-US" sz="1400" dirty="0"/>
          </a:p>
          <a:p>
            <a:pPr marL="228600" indent="-228600">
              <a:spcAft>
                <a:spcPts val="500"/>
              </a:spcAft>
              <a:buSzPct val="100000"/>
              <a:buChar char="•"/>
            </a:pPr>
            <a:r>
              <a:rPr lang="en-US" sz="1400" dirty="0">
                <a:solidFill>
                  <a:schemeClr val="bg1"/>
                </a:solidFill>
              </a:rPr>
              <a:t>man 7 signal: signal overview</a:t>
            </a:r>
            <a:endParaRPr lang="en-US" sz="1400" dirty="0"/>
          </a:p>
          <a:p>
            <a:pPr marL="228600" indent="-228600">
              <a:spcAft>
                <a:spcPts val="500"/>
              </a:spcAft>
              <a:buSzPct val="100000"/>
              <a:buChar char="•"/>
            </a:pPr>
            <a:r>
              <a:rPr lang="en-US" sz="1400" dirty="0">
                <a:solidFill>
                  <a:schemeClr val="bg1"/>
                </a:solidFill>
              </a:rPr>
              <a:t>man 7 pipe: pipes and FIFOs</a:t>
            </a:r>
            <a:endParaRPr lang="en-US" sz="1400" dirty="0"/>
          </a:p>
          <a:p>
            <a:pPr marL="228600" indent="-228600">
              <a:spcAft>
                <a:spcPts val="500"/>
              </a:spcAft>
              <a:buSzPct val="100000"/>
              <a:buChar char="•"/>
            </a:pPr>
            <a:r>
              <a:rPr lang="en-US" sz="1400" dirty="0">
                <a:solidFill>
                  <a:schemeClr val="bg1"/>
                </a:solidFill>
              </a:rPr>
              <a:t>POSIX.1-2017, The Open Group Base Specifications</a:t>
            </a:r>
            <a:endParaRPr lang="en-US" sz="1400" dirty="0"/>
          </a:p>
          <a:p>
            <a:pPr marL="228600" indent="-228600">
              <a:spcAft>
                <a:spcPts val="500"/>
              </a:spcAft>
              <a:buSzPct val="100000"/>
              <a:buChar char="•"/>
            </a:pPr>
            <a:r>
              <a:rPr lang="en-US" sz="1400" dirty="0">
                <a:solidFill>
                  <a:schemeClr val="bg1"/>
                </a:solidFill>
              </a:rPr>
              <a:t>M. Kerrisk, The Linux Programming Interface (2010)</a:t>
            </a:r>
            <a:endParaRPr lang="en-US" sz="1400" dirty="0"/>
          </a:p>
        </p:txBody>
      </p:sp>
      <p:sp>
        <p:nvSpPr>
          <p:cNvPr id="8" name="Text 6"/>
          <p:cNvSpPr txBox="1"/>
          <p:nvPr/>
        </p:nvSpPr>
        <p:spPr>
          <a:xfrm>
            <a:off x="6949440" y="5623560"/>
            <a:ext cx="4526280" cy="365760"/>
          </a:xfrm>
          <a:prstGeom prst="rect">
            <a:avLst/>
          </a:prstGeom>
          <a:noFill/>
        </p:spPr>
        <p:txBody>
          <a:bodyPr wrap="square" lIns="0" tIns="0" rIns="0" bIns="0" rtlCol="0" anchor="t"/>
          <a:lstStyle/>
          <a:p>
            <a:pPr marL="0" indent="0">
              <a:buNone/>
            </a:pPr>
            <a:r>
              <a:rPr lang="en-US" sz="1100" dirty="0">
                <a:solidFill>
                  <a:schemeClr val="accent2"/>
                </a:solidFill>
              </a:rPr>
              <a:t>man7.org/linux/man-pages  |  pubs.opengroup.org/onlinepubs/9699919799</a:t>
            </a:r>
            <a:endParaRPr lang="en-US" sz="1100" dirty="0"/>
          </a:p>
        </p:txBody>
      </p:sp>
      <p:sp>
        <p:nvSpPr>
          <p:cNvPr id="25" name="Slide Number Placeholder 0"/>
          <p:cNvSpPr>
            <a:spLocks noGrp="1"/>
          </p:cNvSpPr>
          <p:nvPr>
            <p:ph type="sldNum" sz="quarter" idx="4294967295"/>
          </p:nvPr>
        </p:nvSpPr>
        <p:spPr>
          <a:xfrm>
            <a:off x="10972800" y="6382512"/>
            <a:ext cx="667512" cy="274320"/>
          </a:xfrm>
          <a:prstGeom prst="rect">
            <a:avLst/>
          </a:prstGeom>
        </p:spPr>
        <p:txBody>
          <a:bodyPr/>
          <a:lstStyle>
            <a:lvl1pPr>
              <a:defRPr sz="1000">
                <a:solidFill>
                  <a:schemeClr val="accent2"/>
                </a:solidFill>
              </a:defRPr>
            </a:lvl1pPr>
          </a:lstStyle>
          <a:p>
            <a:pPr algn="r"/>
            <a:fld id="{F7021451-1387-4CA6-816F-3879F97B5CBC}" type="slidenum">
              <a:rPr lang="en-US" b="0"/>
            </a:fld>
            <a:endParaRPr lang="en-US"/>
          </a:p>
        </p:txBody>
      </p:sp>
    </p:spTree>
  </p:cSld>
  <p:clrMapOvr>
    <a:masterClrMapping/>
  </p:clrMapOvr>
</p:sld>
</file>

<file path=ppt/theme/theme1.xml><?xml version="1.0" encoding="utf-8"?>
<a:theme xmlns:a="http://schemas.openxmlformats.org/drawingml/2006/main" name="OSSP Blue">
  <a:themeElements>
    <a:clrScheme name="OSSP Blue">
      <a:dk1>
        <a:srgbClr val="2B2F36"/>
      </a:dk1>
      <a:lt1>
        <a:srgbClr val="FFFFFF"/>
      </a:lt1>
      <a:dk2>
        <a:srgbClr val="1F3A5F"/>
      </a:dk2>
      <a:lt2>
        <a:srgbClr val="EAF1FB"/>
      </a:lt2>
      <a:accent1>
        <a:srgbClr val="1E6FD9"/>
      </a:accent1>
      <a:accent2>
        <a:srgbClr val="5B9BEA"/>
      </a:accent2>
      <a:accent3>
        <a:srgbClr val="0B3C7A"/>
      </a:accent3>
      <a:accent4>
        <a:srgbClr val="4A4F57"/>
      </a:accent4>
      <a:accent5>
        <a:srgbClr val="5F6773"/>
      </a:accent5>
      <a:accent6>
        <a:srgbClr val="2C3138"/>
      </a:accent6>
      <a:hlink>
        <a:srgbClr val="1E6FD9"/>
      </a:hlink>
      <a:folHlink>
        <a:srgbClr val="5F6773"/>
      </a:folHlink>
    </a:clrScheme>
    <a:fontScheme name="OSSP Blu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SSP Blue">
  <a:themeElements>
    <a:clrScheme name="OSSP Blue">
      <a:dk1>
        <a:srgbClr val="2B2F36"/>
      </a:dk1>
      <a:lt1>
        <a:srgbClr val="FFFFFF"/>
      </a:lt1>
      <a:dk2>
        <a:srgbClr val="1F3A5F"/>
      </a:dk2>
      <a:lt2>
        <a:srgbClr val="EAF1FB"/>
      </a:lt2>
      <a:accent1>
        <a:srgbClr val="1E6FD9"/>
      </a:accent1>
      <a:accent2>
        <a:srgbClr val="5B9BEA"/>
      </a:accent2>
      <a:accent3>
        <a:srgbClr val="0B3C7A"/>
      </a:accent3>
      <a:accent4>
        <a:srgbClr val="4A4F57"/>
      </a:accent4>
      <a:accent5>
        <a:srgbClr val="5F6773"/>
      </a:accent5>
      <a:accent6>
        <a:srgbClr val="2C3138"/>
      </a:accent6>
      <a:hlink>
        <a:srgbClr val="1E6FD9"/>
      </a:hlink>
      <a:folHlink>
        <a:srgbClr val="5F6773"/>
      </a:folHlink>
    </a:clrScheme>
    <a:fontScheme name="OSSP Blu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8937</Words>
  <Application>WPS Presentation</Application>
  <PresentationFormat>On-screen Show (16:9)</PresentationFormat>
  <Paragraphs>539</Paragraphs>
  <Slides>14</Slides>
  <Notes>14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14</vt:i4>
      </vt:variant>
    </vt:vector>
  </HeadingPairs>
  <TitlesOfParts>
    <vt:vector size="25" baseType="lpstr">
      <vt:lpstr>Arial</vt:lpstr>
      <vt:lpstr>SimSun</vt:lpstr>
      <vt:lpstr>Wingdings</vt:lpstr>
      <vt:lpstr>Courier New</vt:lpstr>
      <vt:lpstr>Courier New</vt:lpstr>
      <vt:lpstr>Courier New</vt:lpstr>
      <vt:lpstr>Calibri</vt:lpstr>
      <vt:lpstr>Cambria</vt:lpstr>
      <vt:lpstr>Microsoft YaHei</vt:lpstr>
      <vt:lpstr>Arial Unicode MS</vt:lpstr>
      <vt:lpstr>OSSP Blue</vt:lpstr>
      <vt:lpstr>Inter-Process Chat Application Using IPC</vt:lpstr>
      <vt:lpstr>Abstract</vt:lpstr>
      <vt:lpstr>Problem Statement</vt:lpstr>
      <vt:lpstr>Objectives</vt:lpstr>
      <vt:lpstr>Introduction to IPC</vt:lpstr>
      <vt:lpstr>System Architecture</vt:lpstr>
      <vt:lpstr>Technologies Used</vt:lpstr>
      <vt:lpstr>Implementation and Working</vt:lpstr>
      <vt:lpstr>Important Code Explanation</vt:lpstr>
      <vt:lpstr>Sample Execution and Output</vt:lpstr>
      <vt:lpstr>Operating Systems CO Mapping</vt:lpstr>
      <vt:lpstr>Testing and Results</vt:lpstr>
      <vt:lpstr>Advantages, Limitations &amp; Future Enhancements</vt:lpstr>
      <vt:lpstr>Conclusion and References</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Inter-Process Chat Application Using IPC</dc:title>
  <dc:creator>OSSP Project Team</dc:creator>
  <dc:subject>Operating Systems and Systems Programming (OSSP)</dc:subject>
  <cp:lastModifiedBy>Sai Pranavi</cp:lastModifiedBy>
  <cp:revision>2</cp:revision>
  <dcterms:created xsi:type="dcterms:W3CDTF">2026-10-16T18:43:00Z</dcterms:created>
  <dcterms:modified xsi:type="dcterms:W3CDTF">2026-10-17T05:34:30Z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7BA642EB56E24B0CBF513209F3507DFF_12</vt:lpwstr>
  </property>
</Properties>
</file>